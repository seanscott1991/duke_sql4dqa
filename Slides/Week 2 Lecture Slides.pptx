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64" r:id="rId3"/>
    <p:sldId id="314" r:id="rId4"/>
    <p:sldId id="296" r:id="rId5"/>
    <p:sldId id="317" r:id="rId6"/>
    <p:sldId id="320" r:id="rId7"/>
    <p:sldId id="361" r:id="rId8"/>
    <p:sldId id="259" r:id="rId9"/>
    <p:sldId id="266" r:id="rId10"/>
    <p:sldId id="352" r:id="rId11"/>
    <p:sldId id="329" r:id="rId12"/>
    <p:sldId id="343" r:id="rId13"/>
    <p:sldId id="345" r:id="rId14"/>
    <p:sldId id="313" r:id="rId15"/>
    <p:sldId id="288" r:id="rId16"/>
    <p:sldId id="336" r:id="rId17"/>
    <p:sldId id="328" r:id="rId18"/>
    <p:sldId id="331" r:id="rId19"/>
    <p:sldId id="358" r:id="rId20"/>
    <p:sldId id="337" r:id="rId21"/>
    <p:sldId id="344" r:id="rId22"/>
    <p:sldId id="347" r:id="rId23"/>
    <p:sldId id="362" r:id="rId24"/>
    <p:sldId id="353" r:id="rId25"/>
    <p:sldId id="334" r:id="rId26"/>
    <p:sldId id="335" r:id="rId27"/>
    <p:sldId id="363" r:id="rId28"/>
    <p:sldId id="342" r:id="rId29"/>
    <p:sldId id="318" r:id="rId30"/>
    <p:sldId id="31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6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893" autoAdjust="0"/>
  </p:normalViewPr>
  <p:slideViewPr>
    <p:cSldViewPr snapToGrid="0">
      <p:cViewPr varScale="1">
        <p:scale>
          <a:sx n="83" d="100"/>
          <a:sy n="83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8FC64-E39C-4C42-B46F-635013E3CE6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28D9E-E9B9-4A2D-AB49-1C92CAFDA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4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33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39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4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81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21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24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15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50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2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68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02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36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875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91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5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883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075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745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75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16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4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94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9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45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7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9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12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3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9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7888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13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8258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08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21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4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F5898-5A22-4DB9-8321-F98B646902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6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sqlzoo.net/" TargetMode="External"/><Relationship Id="rId2" Type="http://schemas.openxmlformats.org/officeDocument/2006/relationships/hyperlink" Target="https://www.codecademy.com/learn/learn-sq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sql/sql_exercises.asp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6914422" cy="1646302"/>
          </a:xfrm>
        </p:spPr>
        <p:txBody>
          <a:bodyPr/>
          <a:lstStyle/>
          <a:p>
            <a:pPr algn="l"/>
            <a:r>
              <a:rPr lang="en-US" dirty="0"/>
              <a:t>SQL for Data Querying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6E7E0-04B5-4AEC-9E58-ACC4A20A63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Week </a:t>
            </a:r>
            <a:r>
              <a:rPr lang="en-US"/>
              <a:t>2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952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4027"/>
            <a:ext cx="8596668" cy="42385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dirty="0"/>
              <a:t>Review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3000" dirty="0"/>
              <a:t>Joins (Inner, Left/Right, Full)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3000" dirty="0"/>
              <a:t>Sets (Union, Intercept, Except)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7256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052901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8054A1-14AA-4D56-A82D-A5F05B2A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84917"/>
            <a:ext cx="8839528" cy="512241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SQL stands for </a:t>
            </a:r>
            <a:r>
              <a:rPr lang="en-US" b="1" dirty="0"/>
              <a:t>Structured Querying Language </a:t>
            </a:r>
            <a:r>
              <a:rPr lang="en-US" dirty="0"/>
              <a:t>and is used to communicate with databases</a:t>
            </a:r>
          </a:p>
          <a:p>
            <a:pPr>
              <a:lnSpc>
                <a:spcPct val="110000"/>
              </a:lnSpc>
            </a:pPr>
            <a:r>
              <a:rPr lang="en-US" dirty="0"/>
              <a:t>SQL queries can be made up of up to </a:t>
            </a:r>
            <a:r>
              <a:rPr lang="en-US" b="1" dirty="0"/>
              <a:t>6 clauses </a:t>
            </a:r>
            <a:r>
              <a:rPr lang="en-US" dirty="0"/>
              <a:t>but only the select clause and from clause are required</a:t>
            </a:r>
          </a:p>
          <a:p>
            <a:pPr>
              <a:lnSpc>
                <a:spcPct val="110000"/>
              </a:lnSpc>
            </a:pPr>
            <a:r>
              <a:rPr lang="en-US" dirty="0"/>
              <a:t>The </a:t>
            </a:r>
            <a:r>
              <a:rPr lang="en-US" b="1" dirty="0"/>
              <a:t>select clause </a:t>
            </a:r>
            <a:r>
              <a:rPr lang="en-US" dirty="0"/>
              <a:t>determines which columns will be included in the query’s result</a:t>
            </a:r>
          </a:p>
          <a:p>
            <a:pPr>
              <a:lnSpc>
                <a:spcPct val="110000"/>
              </a:lnSpc>
            </a:pPr>
            <a:r>
              <a:rPr lang="en-US" dirty="0"/>
              <a:t>The </a:t>
            </a:r>
            <a:r>
              <a:rPr lang="en-US" b="1" dirty="0"/>
              <a:t>from clause </a:t>
            </a:r>
            <a:r>
              <a:rPr lang="en-US" dirty="0"/>
              <a:t>determines which </a:t>
            </a:r>
            <a:r>
              <a:rPr lang="en-US" i="1" dirty="0"/>
              <a:t>tables</a:t>
            </a:r>
            <a:r>
              <a:rPr lang="en-US" dirty="0"/>
              <a:t> to retrieve data from and how they should be </a:t>
            </a:r>
            <a:r>
              <a:rPr lang="en-US" i="1" dirty="0"/>
              <a:t>joined </a:t>
            </a:r>
            <a:r>
              <a:rPr lang="en-US" dirty="0"/>
              <a:t>together</a:t>
            </a:r>
          </a:p>
          <a:p>
            <a:pPr>
              <a:lnSpc>
                <a:spcPct val="110000"/>
              </a:lnSpc>
            </a:pPr>
            <a:r>
              <a:rPr lang="en-US" dirty="0"/>
              <a:t>The </a:t>
            </a:r>
            <a:r>
              <a:rPr lang="en-US" b="1" dirty="0"/>
              <a:t>where clause </a:t>
            </a:r>
            <a:r>
              <a:rPr lang="en-US" dirty="0"/>
              <a:t>filters out unwanted rows of data based on conditions</a:t>
            </a:r>
          </a:p>
          <a:p>
            <a:pPr>
              <a:lnSpc>
                <a:spcPct val="110000"/>
              </a:lnSpc>
            </a:pPr>
            <a:r>
              <a:rPr lang="en-US" dirty="0"/>
              <a:t>The</a:t>
            </a:r>
            <a:r>
              <a:rPr lang="en-US" i="1" dirty="0"/>
              <a:t> </a:t>
            </a:r>
            <a:r>
              <a:rPr lang="en-US" b="1" dirty="0"/>
              <a:t>group by clause </a:t>
            </a:r>
            <a:r>
              <a:rPr lang="en-US" dirty="0"/>
              <a:t>allows us to manipulate our data via grouping or aggregation across common column values</a:t>
            </a:r>
          </a:p>
          <a:p>
            <a:pPr>
              <a:lnSpc>
                <a:spcPct val="110000"/>
              </a:lnSpc>
            </a:pPr>
            <a:r>
              <a:rPr lang="en-US" dirty="0"/>
              <a:t>The </a:t>
            </a:r>
            <a:r>
              <a:rPr lang="en-US" b="1" dirty="0"/>
              <a:t>having clause </a:t>
            </a:r>
            <a:r>
              <a:rPr lang="en-US" dirty="0"/>
              <a:t>filters out unwanted </a:t>
            </a:r>
            <a:r>
              <a:rPr lang="en-US" u="sng" dirty="0"/>
              <a:t>groups</a:t>
            </a:r>
            <a:r>
              <a:rPr lang="en-US" dirty="0"/>
              <a:t> based on conditions</a:t>
            </a:r>
          </a:p>
          <a:p>
            <a:pPr>
              <a:lnSpc>
                <a:spcPct val="110000"/>
              </a:lnSpc>
            </a:pPr>
            <a:r>
              <a:rPr lang="en-US" dirty="0"/>
              <a:t>The </a:t>
            </a:r>
            <a:r>
              <a:rPr lang="en-US" b="1" dirty="0"/>
              <a:t>order by clause </a:t>
            </a:r>
            <a:r>
              <a:rPr lang="en-US" dirty="0"/>
              <a:t>sorts the output of the query by one or multiple columns</a:t>
            </a:r>
          </a:p>
        </p:txBody>
      </p:sp>
    </p:spTree>
    <p:extLst>
      <p:ext uri="{BB962C8B-B14F-4D97-AF65-F5344CB8AC3E}">
        <p14:creationId xmlns:p14="http://schemas.microsoft.com/office/powerpoint/2010/main" val="2797319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0511" y="1561393"/>
            <a:ext cx="3779256" cy="41254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COLUMN_1, SUM(COLUMN_2)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TABLE_NAME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 = ‘VALUE’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SUM(COLUMN_2) &gt; 10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ORDER BY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COLUMN_1;</a:t>
            </a: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C2C4EF8B-EDE7-4522-9910-A8FCCEC5E27C}"/>
              </a:ext>
            </a:extLst>
          </p:cNvPr>
          <p:cNvSpPr/>
          <p:nvPr/>
        </p:nvSpPr>
        <p:spPr>
          <a:xfrm>
            <a:off x="3574342" y="1614661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ket 6">
            <a:extLst>
              <a:ext uri="{FF2B5EF4-FFF2-40B4-BE49-F238E27FC236}">
                <a16:creationId xmlns:a16="http://schemas.microsoft.com/office/drawing/2014/main" id="{C3B3E72A-BA2F-434C-974E-1628EA24EC48}"/>
              </a:ext>
            </a:extLst>
          </p:cNvPr>
          <p:cNvSpPr/>
          <p:nvPr/>
        </p:nvSpPr>
        <p:spPr>
          <a:xfrm>
            <a:off x="3541595" y="2397914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Left Bracket 7">
            <a:extLst>
              <a:ext uri="{FF2B5EF4-FFF2-40B4-BE49-F238E27FC236}">
                <a16:creationId xmlns:a16="http://schemas.microsoft.com/office/drawing/2014/main" id="{BF31ED30-C49B-497D-8E5D-85824CB01D97}"/>
              </a:ext>
            </a:extLst>
          </p:cNvPr>
          <p:cNvSpPr/>
          <p:nvPr/>
        </p:nvSpPr>
        <p:spPr>
          <a:xfrm>
            <a:off x="3532357" y="3242233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7233C994-3419-4ADE-B7E4-92E06535E24A}"/>
              </a:ext>
            </a:extLst>
          </p:cNvPr>
          <p:cNvSpPr/>
          <p:nvPr/>
        </p:nvSpPr>
        <p:spPr>
          <a:xfrm>
            <a:off x="3537947" y="4033824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6E939050-0517-45F6-B62E-7AD3AB8E2816}"/>
              </a:ext>
            </a:extLst>
          </p:cNvPr>
          <p:cNvSpPr/>
          <p:nvPr/>
        </p:nvSpPr>
        <p:spPr>
          <a:xfrm>
            <a:off x="3532357" y="4808740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2BA460C3-76E2-49FC-9396-B306C58E83D4}"/>
              </a:ext>
            </a:extLst>
          </p:cNvPr>
          <p:cNvSpPr/>
          <p:nvPr/>
        </p:nvSpPr>
        <p:spPr>
          <a:xfrm>
            <a:off x="3541235" y="5600331"/>
            <a:ext cx="167032" cy="648069"/>
          </a:xfrm>
          <a:prstGeom prst="leftBracke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AFD74AB-6234-471F-9571-50EA7EE217B2}"/>
              </a:ext>
            </a:extLst>
          </p:cNvPr>
          <p:cNvCxnSpPr>
            <a:cxnSpLocks/>
          </p:cNvCxnSpPr>
          <p:nvPr/>
        </p:nvCxnSpPr>
        <p:spPr>
          <a:xfrm>
            <a:off x="2129684" y="1938695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DBD680-2217-4232-84CB-4F651B00CFD9}"/>
              </a:ext>
            </a:extLst>
          </p:cNvPr>
          <p:cNvCxnSpPr/>
          <p:nvPr/>
        </p:nvCxnSpPr>
        <p:spPr>
          <a:xfrm>
            <a:off x="2109877" y="2721947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C135C3-1024-4BAB-B0D3-1C2F244A7D1B}"/>
              </a:ext>
            </a:extLst>
          </p:cNvPr>
          <p:cNvCxnSpPr/>
          <p:nvPr/>
        </p:nvCxnSpPr>
        <p:spPr>
          <a:xfrm>
            <a:off x="2105455" y="3558960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08DDFA-3D46-4173-B4AE-3E98066A5165}"/>
              </a:ext>
            </a:extLst>
          </p:cNvPr>
          <p:cNvCxnSpPr/>
          <p:nvPr/>
        </p:nvCxnSpPr>
        <p:spPr>
          <a:xfrm>
            <a:off x="2105455" y="4366434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07B7BFE-0E69-45B4-A9B7-A3C492116E6F}"/>
              </a:ext>
            </a:extLst>
          </p:cNvPr>
          <p:cNvCxnSpPr/>
          <p:nvPr/>
        </p:nvCxnSpPr>
        <p:spPr>
          <a:xfrm>
            <a:off x="2103874" y="5128782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11448E-339D-4782-AAB9-72F7C56B6317}"/>
              </a:ext>
            </a:extLst>
          </p:cNvPr>
          <p:cNvCxnSpPr/>
          <p:nvPr/>
        </p:nvCxnSpPr>
        <p:spPr>
          <a:xfrm>
            <a:off x="2103874" y="5887138"/>
            <a:ext cx="1426902" cy="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3B56F93-DFC1-4283-A811-3DC62E9270F6}"/>
              </a:ext>
            </a:extLst>
          </p:cNvPr>
          <p:cNvSpPr txBox="1"/>
          <p:nvPr/>
        </p:nvSpPr>
        <p:spPr>
          <a:xfrm>
            <a:off x="588547" y="1733375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Clause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1510FE-0276-40B7-8BBE-7F34E2A8B73B}"/>
              </a:ext>
            </a:extLst>
          </p:cNvPr>
          <p:cNvSpPr txBox="1"/>
          <p:nvPr/>
        </p:nvSpPr>
        <p:spPr>
          <a:xfrm>
            <a:off x="482774" y="2532682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From Clause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9D387D-CAA2-4DB1-B26F-C9820FFFC6AB}"/>
              </a:ext>
            </a:extLst>
          </p:cNvPr>
          <p:cNvSpPr txBox="1"/>
          <p:nvPr/>
        </p:nvSpPr>
        <p:spPr>
          <a:xfrm>
            <a:off x="492121" y="3344755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Where Clause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2E3EC0-AC02-4B61-95A2-A78064B2DCE4}"/>
              </a:ext>
            </a:extLst>
          </p:cNvPr>
          <p:cNvSpPr txBox="1"/>
          <p:nvPr/>
        </p:nvSpPr>
        <p:spPr>
          <a:xfrm>
            <a:off x="286707" y="4156828"/>
            <a:ext cx="197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By Clause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9B437F-D754-4A96-8D81-383B50C04DF0}"/>
              </a:ext>
            </a:extLst>
          </p:cNvPr>
          <p:cNvSpPr txBox="1"/>
          <p:nvPr/>
        </p:nvSpPr>
        <p:spPr>
          <a:xfrm>
            <a:off x="492121" y="4947288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Having Clause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08B73B-59BD-4FEC-ADFE-D4950A497448}"/>
              </a:ext>
            </a:extLst>
          </p:cNvPr>
          <p:cNvSpPr txBox="1"/>
          <p:nvPr/>
        </p:nvSpPr>
        <p:spPr>
          <a:xfrm>
            <a:off x="286707" y="5702472"/>
            <a:ext cx="197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 By Clause</a:t>
            </a:r>
          </a:p>
        </p:txBody>
      </p:sp>
    </p:spTree>
    <p:extLst>
      <p:ext uri="{BB962C8B-B14F-4D97-AF65-F5344CB8AC3E}">
        <p14:creationId xmlns:p14="http://schemas.microsoft.com/office/powerpoint/2010/main" val="497475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Syntax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1068" y="1138924"/>
            <a:ext cx="3779256" cy="41254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, SUM(COLUMN_2)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TABLE_NAME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 = ‘VALUE’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-- Filter data here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HAVING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SUM(COLUMN_2) &gt; 10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ORDER BY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COLUMN_1;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7C844-6DBB-4E5B-A0B8-F0802DEF6213}"/>
              </a:ext>
            </a:extLst>
          </p:cNvPr>
          <p:cNvSpPr txBox="1"/>
          <p:nvPr/>
        </p:nvSpPr>
        <p:spPr>
          <a:xfrm>
            <a:off x="258942" y="1433509"/>
            <a:ext cx="277006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Put key words on their own line and indent lines with no key words (indents are key!)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D28A88-9385-440F-84C6-6352F11FB749}"/>
              </a:ext>
            </a:extLst>
          </p:cNvPr>
          <p:cNvCxnSpPr>
            <a:cxnSpLocks/>
          </p:cNvCxnSpPr>
          <p:nvPr/>
        </p:nvCxnSpPr>
        <p:spPr>
          <a:xfrm flipV="1">
            <a:off x="3123302" y="1909208"/>
            <a:ext cx="725351" cy="493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21DBF32-1E1F-42B4-ABA1-D340F3B90203}"/>
              </a:ext>
            </a:extLst>
          </p:cNvPr>
          <p:cNvSpPr txBox="1"/>
          <p:nvPr/>
        </p:nvSpPr>
        <p:spPr>
          <a:xfrm>
            <a:off x="7243013" y="2562148"/>
            <a:ext cx="2274406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Capitalize key words!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077768-A7A5-4C04-A238-2047A16F2417}"/>
              </a:ext>
            </a:extLst>
          </p:cNvPr>
          <p:cNvCxnSpPr>
            <a:cxnSpLocks/>
          </p:cNvCxnSpPr>
          <p:nvPr/>
        </p:nvCxnSpPr>
        <p:spPr>
          <a:xfrm flipH="1" flipV="1">
            <a:off x="4512644" y="2562148"/>
            <a:ext cx="2650385" cy="335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A6115E-9B20-49CD-8D8D-E160DE7D14C2}"/>
              </a:ext>
            </a:extLst>
          </p:cNvPr>
          <p:cNvCxnSpPr>
            <a:cxnSpLocks/>
          </p:cNvCxnSpPr>
          <p:nvPr/>
        </p:nvCxnSpPr>
        <p:spPr>
          <a:xfrm flipH="1">
            <a:off x="4678532" y="2977646"/>
            <a:ext cx="2484497" cy="41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B1EB9E2-7349-45A7-9DEC-ED8B95291F21}"/>
              </a:ext>
            </a:extLst>
          </p:cNvPr>
          <p:cNvSpPr txBox="1"/>
          <p:nvPr/>
        </p:nvSpPr>
        <p:spPr>
          <a:xfrm>
            <a:off x="6954902" y="4796310"/>
            <a:ext cx="2274406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End query with a semi colon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C90A36-4FEC-4535-A103-30E2289C999C}"/>
              </a:ext>
            </a:extLst>
          </p:cNvPr>
          <p:cNvCxnSpPr>
            <a:cxnSpLocks/>
          </p:cNvCxnSpPr>
          <p:nvPr/>
        </p:nvCxnSpPr>
        <p:spPr>
          <a:xfrm flipH="1">
            <a:off x="5580139" y="5627307"/>
            <a:ext cx="1331965" cy="940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F0DA7B-F0A2-4A8D-AC00-727A3ADD6F7C}"/>
              </a:ext>
            </a:extLst>
          </p:cNvPr>
          <p:cNvCxnSpPr>
            <a:cxnSpLocks/>
          </p:cNvCxnSpPr>
          <p:nvPr/>
        </p:nvCxnSpPr>
        <p:spPr>
          <a:xfrm>
            <a:off x="3142326" y="2540956"/>
            <a:ext cx="706327" cy="197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FC48814-1864-48BC-AAD3-A8241B05A2B6}"/>
              </a:ext>
            </a:extLst>
          </p:cNvPr>
          <p:cNvSpPr txBox="1"/>
          <p:nvPr/>
        </p:nvSpPr>
        <p:spPr>
          <a:xfrm>
            <a:off x="391729" y="4224162"/>
            <a:ext cx="243137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Use double dash (--) to comment your code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18B1FC-D8C7-4874-9068-FCF38D817C30}"/>
              </a:ext>
            </a:extLst>
          </p:cNvPr>
          <p:cNvCxnSpPr>
            <a:cxnSpLocks/>
          </p:cNvCxnSpPr>
          <p:nvPr/>
        </p:nvCxnSpPr>
        <p:spPr>
          <a:xfrm flipV="1">
            <a:off x="2902494" y="4154750"/>
            <a:ext cx="1172356" cy="524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7E2C66B-CB8A-436B-BFC0-0F55BD3557D3}"/>
              </a:ext>
            </a:extLst>
          </p:cNvPr>
          <p:cNvSpPr txBox="1"/>
          <p:nvPr/>
        </p:nvSpPr>
        <p:spPr>
          <a:xfrm>
            <a:off x="7243013" y="920207"/>
            <a:ext cx="227440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Each column in select clause on its own line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48A5E9-17DF-469E-8B44-65C4BA62D201}"/>
              </a:ext>
            </a:extLst>
          </p:cNvPr>
          <p:cNvCxnSpPr>
            <a:cxnSpLocks/>
          </p:cNvCxnSpPr>
          <p:nvPr/>
        </p:nvCxnSpPr>
        <p:spPr>
          <a:xfrm flipH="1">
            <a:off x="5580139" y="1460192"/>
            <a:ext cx="1509206" cy="236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F28A0F5-8704-4813-912A-BC42AB3903C2}"/>
              </a:ext>
            </a:extLst>
          </p:cNvPr>
          <p:cNvCxnSpPr>
            <a:cxnSpLocks/>
          </p:cNvCxnSpPr>
          <p:nvPr/>
        </p:nvCxnSpPr>
        <p:spPr>
          <a:xfrm flipH="1">
            <a:off x="6170323" y="1520371"/>
            <a:ext cx="919022" cy="535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35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Relational Databases</a:t>
            </a:r>
          </a:p>
        </p:txBody>
      </p:sp>
    </p:spTree>
    <p:extLst>
      <p:ext uri="{BB962C8B-B14F-4D97-AF65-F5344CB8AC3E}">
        <p14:creationId xmlns:p14="http://schemas.microsoft.com/office/powerpoint/2010/main" val="1192248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Relational Databases?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95070-1E6E-4B8E-BF5B-AAE50CC59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26" y="5268286"/>
            <a:ext cx="2690220" cy="12401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64A4D5-3C0D-40B0-A417-507950DC7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908" y="5426278"/>
            <a:ext cx="3162882" cy="8221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22F3C4-184F-4A01-B9A6-06B48EA41C65}"/>
              </a:ext>
            </a:extLst>
          </p:cNvPr>
          <p:cNvSpPr txBox="1"/>
          <p:nvPr/>
        </p:nvSpPr>
        <p:spPr>
          <a:xfrm>
            <a:off x="1866810" y="4974833"/>
            <a:ext cx="1627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ORDERS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6FDCC-C270-4EB4-ADE6-6394A5B72890}"/>
              </a:ext>
            </a:extLst>
          </p:cNvPr>
          <p:cNvSpPr txBox="1"/>
          <p:nvPr/>
        </p:nvSpPr>
        <p:spPr>
          <a:xfrm>
            <a:off x="5781673" y="5146501"/>
            <a:ext cx="1627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CUSTOMERS TABLE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39C71C-E060-4870-8260-CBE461CDB0F5}"/>
              </a:ext>
            </a:extLst>
          </p:cNvPr>
          <p:cNvCxnSpPr>
            <a:cxnSpLocks/>
          </p:cNvCxnSpPr>
          <p:nvPr/>
        </p:nvCxnSpPr>
        <p:spPr>
          <a:xfrm>
            <a:off x="3893393" y="5449239"/>
            <a:ext cx="921888" cy="185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15E959-91C6-4BFA-84D2-720D2A9AFB9D}"/>
              </a:ext>
            </a:extLst>
          </p:cNvPr>
          <p:cNvCxnSpPr>
            <a:cxnSpLocks/>
          </p:cNvCxnSpPr>
          <p:nvPr/>
        </p:nvCxnSpPr>
        <p:spPr>
          <a:xfrm>
            <a:off x="3879671" y="5634565"/>
            <a:ext cx="921888" cy="185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029D02-F46F-4C42-A815-748A40C36CB1}"/>
              </a:ext>
            </a:extLst>
          </p:cNvPr>
          <p:cNvCxnSpPr>
            <a:cxnSpLocks/>
          </p:cNvCxnSpPr>
          <p:nvPr/>
        </p:nvCxnSpPr>
        <p:spPr>
          <a:xfrm>
            <a:off x="3864059" y="5795709"/>
            <a:ext cx="921888" cy="185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E38ED8-3DA9-4700-A57A-F6D60230C9FB}"/>
              </a:ext>
            </a:extLst>
          </p:cNvPr>
          <p:cNvCxnSpPr>
            <a:cxnSpLocks/>
          </p:cNvCxnSpPr>
          <p:nvPr/>
        </p:nvCxnSpPr>
        <p:spPr>
          <a:xfrm flipV="1">
            <a:off x="3864059" y="6156203"/>
            <a:ext cx="951222" cy="159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DBCF658-F1A3-4E70-A5CA-02E7E5BD3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8860949" cy="3611037"/>
          </a:xfrm>
        </p:spPr>
        <p:txBody>
          <a:bodyPr>
            <a:normAutofit/>
          </a:bodyPr>
          <a:lstStyle/>
          <a:p>
            <a:r>
              <a:rPr lang="en-US" sz="2000" dirty="0"/>
              <a:t>Relational databases store data in tables that are </a:t>
            </a:r>
            <a:r>
              <a:rPr lang="en-US" sz="2000" i="1" dirty="0"/>
              <a:t>related </a:t>
            </a:r>
            <a:r>
              <a:rPr lang="en-US" sz="2000" dirty="0"/>
              <a:t>to one another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They are key to understanding and writing effective SQL code!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Every row in every table has a unique </a:t>
            </a:r>
            <a:r>
              <a:rPr lang="en-US" sz="2000" b="1" dirty="0"/>
              <a:t>key </a:t>
            </a:r>
            <a:r>
              <a:rPr lang="en-US" sz="2000" dirty="0"/>
              <a:t>that identifies the row and can help </a:t>
            </a:r>
            <a:r>
              <a:rPr lang="en-US" sz="2000" i="1" dirty="0"/>
              <a:t>relate</a:t>
            </a:r>
            <a:r>
              <a:rPr lang="en-US" sz="2000" dirty="0"/>
              <a:t> the table to other tables in the database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Why not store data in a spreadsheet??</a:t>
            </a:r>
          </a:p>
        </p:txBody>
      </p:sp>
    </p:spTree>
    <p:extLst>
      <p:ext uri="{BB962C8B-B14F-4D97-AF65-F5344CB8AC3E}">
        <p14:creationId xmlns:p14="http://schemas.microsoft.com/office/powerpoint/2010/main" val="4175784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Database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CD8E5-4D8E-477A-BF5E-CE2725A1A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35989"/>
            <a:ext cx="9399539" cy="4664629"/>
          </a:xfrm>
        </p:spPr>
        <p:txBody>
          <a:bodyPr>
            <a:normAutofit/>
          </a:bodyPr>
          <a:lstStyle/>
          <a:p>
            <a:r>
              <a:rPr lang="en-US" sz="2200" dirty="0"/>
              <a:t>Tables in relational databases can have </a:t>
            </a:r>
            <a:r>
              <a:rPr lang="en-US" sz="2200" i="1" dirty="0"/>
              <a:t>primary keys </a:t>
            </a:r>
            <a:r>
              <a:rPr lang="en-US" sz="2200" dirty="0"/>
              <a:t>and/or </a:t>
            </a:r>
            <a:r>
              <a:rPr lang="en-US" sz="2200" i="1" dirty="0"/>
              <a:t>foreign keys</a:t>
            </a:r>
          </a:p>
          <a:p>
            <a:pPr marL="0" indent="0">
              <a:buNone/>
            </a:pPr>
            <a:endParaRPr lang="en-US" sz="1000" i="1" dirty="0"/>
          </a:p>
          <a:p>
            <a:r>
              <a:rPr lang="en-US" sz="2200" dirty="0"/>
              <a:t>A primary key is a unique identifier within a table</a:t>
            </a:r>
          </a:p>
          <a:p>
            <a:pPr marL="0" indent="0">
              <a:buNone/>
            </a:pPr>
            <a:endParaRPr lang="en-US" sz="1000" dirty="0"/>
          </a:p>
          <a:p>
            <a:r>
              <a:rPr lang="en-US" sz="2200" dirty="0"/>
              <a:t>A foreign key serves as a link to another table where the same values serve as a primary key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450408-5077-4460-8577-DF14906C3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79" y="5491018"/>
            <a:ext cx="2690220" cy="12401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82A909-4490-4BE0-9040-30BF0F8EE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161" y="5649010"/>
            <a:ext cx="3162882" cy="822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212F83-F4CE-41D3-92B9-56C23A3EF47D}"/>
              </a:ext>
            </a:extLst>
          </p:cNvPr>
          <p:cNvSpPr txBox="1"/>
          <p:nvPr/>
        </p:nvSpPr>
        <p:spPr>
          <a:xfrm>
            <a:off x="1653063" y="5197565"/>
            <a:ext cx="1627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ORDERS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80103-4B84-4012-A997-0125BEF21E0B}"/>
              </a:ext>
            </a:extLst>
          </p:cNvPr>
          <p:cNvSpPr txBox="1"/>
          <p:nvPr/>
        </p:nvSpPr>
        <p:spPr>
          <a:xfrm>
            <a:off x="5567926" y="5369233"/>
            <a:ext cx="1627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CUSTOMERS 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6CB08D-FC4F-47ED-B4C0-A7FA509B3078}"/>
              </a:ext>
            </a:extLst>
          </p:cNvPr>
          <p:cNvSpPr txBox="1"/>
          <p:nvPr/>
        </p:nvSpPr>
        <p:spPr>
          <a:xfrm>
            <a:off x="2466795" y="4487675"/>
            <a:ext cx="1446442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Primary Key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6C75087-5430-4393-B39D-F75A6F98FE13}"/>
              </a:ext>
            </a:extLst>
          </p:cNvPr>
          <p:cNvCxnSpPr>
            <a:cxnSpLocks/>
          </p:cNvCxnSpPr>
          <p:nvPr/>
        </p:nvCxnSpPr>
        <p:spPr>
          <a:xfrm flipH="1">
            <a:off x="1274618" y="4901471"/>
            <a:ext cx="1915398" cy="419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3F7F6F-6A51-4890-88A9-EE7871ED0B43}"/>
              </a:ext>
            </a:extLst>
          </p:cNvPr>
          <p:cNvCxnSpPr>
            <a:cxnSpLocks/>
          </p:cNvCxnSpPr>
          <p:nvPr/>
        </p:nvCxnSpPr>
        <p:spPr>
          <a:xfrm>
            <a:off x="3280528" y="4925308"/>
            <a:ext cx="1928781" cy="688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59A4D4A-85AC-4481-B420-72EB93167654}"/>
              </a:ext>
            </a:extLst>
          </p:cNvPr>
          <p:cNvSpPr txBox="1"/>
          <p:nvPr/>
        </p:nvSpPr>
        <p:spPr>
          <a:xfrm>
            <a:off x="5209309" y="4487675"/>
            <a:ext cx="1446442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Foreign Key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75ECDF-548C-41E0-BA66-71A7062D48DF}"/>
              </a:ext>
            </a:extLst>
          </p:cNvPr>
          <p:cNvCxnSpPr>
            <a:cxnSpLocks/>
          </p:cNvCxnSpPr>
          <p:nvPr/>
        </p:nvCxnSpPr>
        <p:spPr>
          <a:xfrm flipH="1">
            <a:off x="3287219" y="4903803"/>
            <a:ext cx="2646148" cy="53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836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Joins</a:t>
            </a:r>
          </a:p>
        </p:txBody>
      </p:sp>
    </p:spTree>
    <p:extLst>
      <p:ext uri="{BB962C8B-B14F-4D97-AF65-F5344CB8AC3E}">
        <p14:creationId xmlns:p14="http://schemas.microsoft.com/office/powerpoint/2010/main" val="1138263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Join?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EF2725-C47C-4572-9264-59FDCB507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3771"/>
            <a:ext cx="8679730" cy="4664629"/>
          </a:xfrm>
        </p:spPr>
        <p:txBody>
          <a:bodyPr>
            <a:normAutofit/>
          </a:bodyPr>
          <a:lstStyle/>
          <a:p>
            <a:r>
              <a:rPr lang="en-US" sz="2200" dirty="0"/>
              <a:t>A join is an operation that uses related columns between tables to combine data from multiple tables into one query 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Joins typically leverage both a </a:t>
            </a:r>
            <a:r>
              <a:rPr lang="en-US" sz="2200" i="1" dirty="0"/>
              <a:t>primary key</a:t>
            </a:r>
            <a:r>
              <a:rPr lang="en-US" sz="2200" dirty="0"/>
              <a:t> and a </a:t>
            </a:r>
            <a:r>
              <a:rPr lang="en-US" sz="2200" i="1" dirty="0"/>
              <a:t>foreign key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Joins are located in the </a:t>
            </a:r>
            <a:r>
              <a:rPr lang="en-US" sz="2200" i="1" dirty="0"/>
              <a:t>from clause </a:t>
            </a:r>
            <a:r>
              <a:rPr lang="en-US" sz="2200" dirty="0"/>
              <a:t>of a SQL query *</a:t>
            </a:r>
          </a:p>
          <a:p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E036FF-AFF8-49AA-A37D-AFAC6E9199A1}"/>
              </a:ext>
            </a:extLst>
          </p:cNvPr>
          <p:cNvSpPr txBox="1"/>
          <p:nvPr/>
        </p:nvSpPr>
        <p:spPr>
          <a:xfrm>
            <a:off x="1104900" y="6248400"/>
            <a:ext cx="681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 There is an additional syntax for joins from version SQL92 that puts joins in the where clause, but this syntax is considered less flexible and less interpretable </a:t>
            </a:r>
          </a:p>
        </p:txBody>
      </p:sp>
    </p:spTree>
    <p:extLst>
      <p:ext uri="{BB962C8B-B14F-4D97-AF65-F5344CB8AC3E}">
        <p14:creationId xmlns:p14="http://schemas.microsoft.com/office/powerpoint/2010/main" val="209414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Example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FF89D4-1D91-4FD4-91F6-7BEB7E834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569" y="1930400"/>
            <a:ext cx="1562100" cy="1819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715774-C6C3-48B9-BBA4-7D86A0B34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28" y="1930400"/>
            <a:ext cx="5457825" cy="18288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7E6DD0-2191-4711-84F0-1A62DDDF1E60}"/>
              </a:ext>
            </a:extLst>
          </p:cNvPr>
          <p:cNvCxnSpPr>
            <a:cxnSpLocks/>
          </p:cNvCxnSpPr>
          <p:nvPr/>
        </p:nvCxnSpPr>
        <p:spPr>
          <a:xfrm>
            <a:off x="5901837" y="2201597"/>
            <a:ext cx="921888" cy="185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794541-54F6-4056-8351-CE40E7BACB55}"/>
              </a:ext>
            </a:extLst>
          </p:cNvPr>
          <p:cNvCxnSpPr>
            <a:cxnSpLocks/>
          </p:cNvCxnSpPr>
          <p:nvPr/>
        </p:nvCxnSpPr>
        <p:spPr>
          <a:xfrm>
            <a:off x="5913689" y="3666537"/>
            <a:ext cx="9100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D8A58A-8596-4FE6-BF06-D1E408D69594}"/>
              </a:ext>
            </a:extLst>
          </p:cNvPr>
          <p:cNvCxnSpPr>
            <a:cxnSpLocks/>
          </p:cNvCxnSpPr>
          <p:nvPr/>
        </p:nvCxnSpPr>
        <p:spPr>
          <a:xfrm flipV="1">
            <a:off x="5872503" y="2430514"/>
            <a:ext cx="951222" cy="117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C85347-BAE8-4A82-AC07-CF61C4E4FD8C}"/>
              </a:ext>
            </a:extLst>
          </p:cNvPr>
          <p:cNvCxnSpPr>
            <a:cxnSpLocks/>
          </p:cNvCxnSpPr>
          <p:nvPr/>
        </p:nvCxnSpPr>
        <p:spPr>
          <a:xfrm flipV="1">
            <a:off x="5872503" y="2489290"/>
            <a:ext cx="951222" cy="578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7CF3FC-90AD-45BE-B4DB-9F3BB1716E21}"/>
              </a:ext>
            </a:extLst>
          </p:cNvPr>
          <p:cNvCxnSpPr>
            <a:cxnSpLocks/>
          </p:cNvCxnSpPr>
          <p:nvPr/>
        </p:nvCxnSpPr>
        <p:spPr>
          <a:xfrm>
            <a:off x="5933505" y="2386923"/>
            <a:ext cx="890220" cy="1210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F648124-BE26-4FA7-BDF8-03CD6FEFA07C}"/>
              </a:ext>
            </a:extLst>
          </p:cNvPr>
          <p:cNvSpPr txBox="1"/>
          <p:nvPr/>
        </p:nvSpPr>
        <p:spPr>
          <a:xfrm>
            <a:off x="1983568" y="1557461"/>
            <a:ext cx="16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Charge Table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8D40E9-6E51-4863-A632-59698B018A97}"/>
              </a:ext>
            </a:extLst>
          </p:cNvPr>
          <p:cNvSpPr txBox="1"/>
          <p:nvPr/>
        </p:nvSpPr>
        <p:spPr>
          <a:xfrm>
            <a:off x="6823725" y="1557461"/>
            <a:ext cx="2166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Category Table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C38A27E-7A39-4116-8688-BE7C70A95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14" y="4465325"/>
            <a:ext cx="3562350" cy="1866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0" name="Arrow: Right 29">
            <a:extLst>
              <a:ext uri="{FF2B5EF4-FFF2-40B4-BE49-F238E27FC236}">
                <a16:creationId xmlns:a16="http://schemas.microsoft.com/office/drawing/2014/main" id="{6F7AB796-FF56-424A-A578-78D179846D00}"/>
              </a:ext>
            </a:extLst>
          </p:cNvPr>
          <p:cNvSpPr/>
          <p:nvPr/>
        </p:nvSpPr>
        <p:spPr>
          <a:xfrm>
            <a:off x="4651899" y="5007006"/>
            <a:ext cx="905522" cy="3018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29FF1B-CD56-4E31-9B1F-276F802E2997}"/>
              </a:ext>
            </a:extLst>
          </p:cNvPr>
          <p:cNvSpPr txBox="1"/>
          <p:nvPr/>
        </p:nvSpPr>
        <p:spPr>
          <a:xfrm>
            <a:off x="6996893" y="4095993"/>
            <a:ext cx="91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6A6EBE-3246-4F57-8C1B-22E28798EC57}"/>
              </a:ext>
            </a:extLst>
          </p:cNvPr>
          <p:cNvSpPr txBox="1"/>
          <p:nvPr/>
        </p:nvSpPr>
        <p:spPr>
          <a:xfrm>
            <a:off x="1983568" y="4095993"/>
            <a:ext cx="91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84D8241-8A0A-457D-89ED-25DA5F14A3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886" y="4521887"/>
            <a:ext cx="344805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7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DC4C54F7-89C2-456D-BED6-3EAD5EB5B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948" y="1594445"/>
            <a:ext cx="4574026" cy="23823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Join</a:t>
            </a:r>
          </a:p>
        </p:txBody>
      </p: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6902A171-6C31-405C-934A-8A368D6E1B81}"/>
              </a:ext>
            </a:extLst>
          </p:cNvPr>
          <p:cNvSpPr/>
          <p:nvPr/>
        </p:nvSpPr>
        <p:spPr>
          <a:xfrm flipH="1">
            <a:off x="5739182" y="1939905"/>
            <a:ext cx="163194" cy="1012100"/>
          </a:xfrm>
          <a:prstGeom prst="leftBracket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CC3E47-48C8-4108-BABD-74EC1D15F53E}"/>
              </a:ext>
            </a:extLst>
          </p:cNvPr>
          <p:cNvCxnSpPr>
            <a:cxnSpLocks/>
          </p:cNvCxnSpPr>
          <p:nvPr/>
        </p:nvCxnSpPr>
        <p:spPr>
          <a:xfrm>
            <a:off x="5902376" y="2433536"/>
            <a:ext cx="93365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73E4FA8B-626B-411D-9A57-7ABB720DB917}"/>
              </a:ext>
            </a:extLst>
          </p:cNvPr>
          <p:cNvSpPr/>
          <p:nvPr/>
        </p:nvSpPr>
        <p:spPr>
          <a:xfrm rot="16200000">
            <a:off x="5931960" y="2190318"/>
            <a:ext cx="107801" cy="3458785"/>
          </a:xfrm>
          <a:prstGeom prst="leftBracket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57A804-FD72-4D30-A7FC-0D570FF436F2}"/>
              </a:ext>
            </a:extLst>
          </p:cNvPr>
          <p:cNvCxnSpPr>
            <a:cxnSpLocks/>
          </p:cNvCxnSpPr>
          <p:nvPr/>
        </p:nvCxnSpPr>
        <p:spPr>
          <a:xfrm>
            <a:off x="5902376" y="3973611"/>
            <a:ext cx="0" cy="52967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eft Bracket 23">
            <a:extLst>
              <a:ext uri="{FF2B5EF4-FFF2-40B4-BE49-F238E27FC236}">
                <a16:creationId xmlns:a16="http://schemas.microsoft.com/office/drawing/2014/main" id="{17038910-9C2E-4E3C-80DD-DCDE44DF11E1}"/>
              </a:ext>
            </a:extLst>
          </p:cNvPr>
          <p:cNvSpPr/>
          <p:nvPr/>
        </p:nvSpPr>
        <p:spPr>
          <a:xfrm>
            <a:off x="3381581" y="3409570"/>
            <a:ext cx="206806" cy="202092"/>
          </a:xfrm>
          <a:prstGeom prst="leftBracket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F9ECF9-DECF-402B-8235-3BE8D68E81BE}"/>
              </a:ext>
            </a:extLst>
          </p:cNvPr>
          <p:cNvCxnSpPr>
            <a:cxnSpLocks/>
          </p:cNvCxnSpPr>
          <p:nvPr/>
        </p:nvCxnSpPr>
        <p:spPr>
          <a:xfrm>
            <a:off x="2447925" y="3528911"/>
            <a:ext cx="93365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39883C-80FB-43B4-8190-573153FC5CD0}"/>
              </a:ext>
            </a:extLst>
          </p:cNvPr>
          <p:cNvSpPr txBox="1"/>
          <p:nvPr/>
        </p:nvSpPr>
        <p:spPr>
          <a:xfrm>
            <a:off x="6886919" y="1666218"/>
            <a:ext cx="25417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When joining multiple tables, columns in the select clause should include the source table as a prefix to specify to the server where to pull the column from and avoid ambiguity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36467A-266B-44D8-BB10-362F3C26F853}"/>
              </a:ext>
            </a:extLst>
          </p:cNvPr>
          <p:cNvSpPr txBox="1"/>
          <p:nvPr/>
        </p:nvSpPr>
        <p:spPr>
          <a:xfrm>
            <a:off x="178595" y="2971879"/>
            <a:ext cx="24937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Specify what kind of join you are performing (INNER) and what table you are joining in (category)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50FE51-239A-438C-A2EF-D0A41FE998F2}"/>
              </a:ext>
            </a:extLst>
          </p:cNvPr>
          <p:cNvSpPr txBox="1"/>
          <p:nvPr/>
        </p:nvSpPr>
        <p:spPr>
          <a:xfrm>
            <a:off x="4925313" y="4512787"/>
            <a:ext cx="32757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ON subclause shows how tables are related by specifying their relationship between 1 or more keys</a:t>
            </a:r>
          </a:p>
        </p:txBody>
      </p:sp>
    </p:spTree>
    <p:extLst>
      <p:ext uri="{BB962C8B-B14F-4D97-AF65-F5344CB8AC3E}">
        <p14:creationId xmlns:p14="http://schemas.microsoft.com/office/powerpoint/2010/main" val="503215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B9E58-95DB-483D-929C-0905AED57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8860949" cy="3611037"/>
          </a:xfrm>
        </p:spPr>
        <p:txBody>
          <a:bodyPr>
            <a:normAutofit/>
          </a:bodyPr>
          <a:lstStyle/>
          <a:p>
            <a:r>
              <a:rPr lang="en-US" sz="2200" dirty="0"/>
              <a:t>An inner join return all records that have matching values in </a:t>
            </a:r>
            <a:r>
              <a:rPr lang="en-US" sz="2200" i="1" dirty="0"/>
              <a:t>both tables</a:t>
            </a:r>
          </a:p>
          <a:p>
            <a:pPr marL="0" indent="0">
              <a:buNone/>
            </a:pPr>
            <a:endParaRPr lang="en-US" sz="2200" i="1" dirty="0"/>
          </a:p>
          <a:p>
            <a:r>
              <a:rPr lang="en-US" sz="2200" dirty="0"/>
              <a:t>Inner joins can be useful for filtering to a subset of your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7E3E3E-DD79-4ED4-A6AA-062439B0C3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083"/>
          <a:stretch/>
        </p:blipFill>
        <p:spPr>
          <a:xfrm>
            <a:off x="2917057" y="3429000"/>
            <a:ext cx="4369567" cy="246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05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2.1</a:t>
            </a:r>
          </a:p>
        </p:txBody>
      </p:sp>
    </p:spTree>
    <p:extLst>
      <p:ext uri="{BB962C8B-B14F-4D97-AF65-F5344CB8AC3E}">
        <p14:creationId xmlns:p14="http://schemas.microsoft.com/office/powerpoint/2010/main" val="557181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8860949" cy="4693619"/>
          </a:xfrm>
        </p:spPr>
        <p:txBody>
          <a:bodyPr>
            <a:normAutofit/>
          </a:bodyPr>
          <a:lstStyle/>
          <a:p>
            <a:r>
              <a:rPr lang="en-US" sz="2200" dirty="0"/>
              <a:t>A left join returns all rows from the </a:t>
            </a:r>
            <a:r>
              <a:rPr lang="en-US" sz="2200" i="1" dirty="0"/>
              <a:t>left table </a:t>
            </a:r>
            <a:r>
              <a:rPr lang="en-US" sz="2200" dirty="0"/>
              <a:t>specified in the join and only the </a:t>
            </a:r>
            <a:r>
              <a:rPr lang="en-US" sz="2200" i="1" dirty="0"/>
              <a:t>matched</a:t>
            </a:r>
            <a:r>
              <a:rPr lang="en-US" sz="2200" dirty="0"/>
              <a:t> records from the right table</a:t>
            </a:r>
          </a:p>
          <a:p>
            <a:pPr lvl="1"/>
            <a:r>
              <a:rPr lang="en-US" sz="2000" dirty="0"/>
              <a:t>Left table is responsible for determining number of rows in result set</a:t>
            </a:r>
          </a:p>
          <a:p>
            <a:pPr lvl="1"/>
            <a:endParaRPr lang="en-US" sz="1800" dirty="0"/>
          </a:p>
          <a:p>
            <a:r>
              <a:rPr lang="en-US" sz="2200" dirty="0"/>
              <a:t>Left joins are useful when you want to bring in data from other tables without sacrificing any rows (so very useful!)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D3E83-0BB4-4A1D-B9BE-6C3022CCB5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299"/>
          <a:stretch/>
        </p:blipFill>
        <p:spPr>
          <a:xfrm>
            <a:off x="2771775" y="3746261"/>
            <a:ext cx="4324350" cy="250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92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2.2</a:t>
            </a:r>
          </a:p>
        </p:txBody>
      </p:sp>
    </p:spTree>
    <p:extLst>
      <p:ext uri="{BB962C8B-B14F-4D97-AF65-F5344CB8AC3E}">
        <p14:creationId xmlns:p14="http://schemas.microsoft.com/office/powerpoint/2010/main" val="3906052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Joins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ED284F-1A52-45EB-A917-15BEE5467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849" y="4089568"/>
            <a:ext cx="3415638" cy="205259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BCD4AA-FE32-4342-96C0-BB6F89F92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9095316" cy="46936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Not available in MySQL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Can be accomplished by a ‘UNION’ of a left join and right join of the two tables!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UNIONs coming up soon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Full Joins rarely used!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66378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BCD4AA-FE32-4342-96C0-BB6F89F92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4781"/>
            <a:ext cx="9095316" cy="4693619"/>
          </a:xfrm>
        </p:spPr>
        <p:txBody>
          <a:bodyPr>
            <a:normAutofit/>
          </a:bodyPr>
          <a:lstStyle/>
          <a:p>
            <a:r>
              <a:rPr lang="en-US" sz="2200" dirty="0"/>
              <a:t>Leveraging </a:t>
            </a:r>
            <a:r>
              <a:rPr lang="en-US" sz="2200" i="1" dirty="0"/>
              <a:t>table</a:t>
            </a:r>
            <a:r>
              <a:rPr lang="en-US" sz="2200" dirty="0"/>
              <a:t> </a:t>
            </a:r>
            <a:r>
              <a:rPr lang="en-US" sz="2200" i="1" dirty="0"/>
              <a:t>aliases</a:t>
            </a:r>
            <a:r>
              <a:rPr lang="en-US" sz="2200" dirty="0"/>
              <a:t> in your joins is a great way to keep them clean and interpretable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Table aliases are set in the from clause of a query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8145"/>
          </a:xfrm>
        </p:spPr>
        <p:txBody>
          <a:bodyPr/>
          <a:lstStyle/>
          <a:p>
            <a:r>
              <a:rPr lang="en-US" dirty="0"/>
              <a:t>Using Table Aliases with Joins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BEC623-6310-420A-B6D0-4A342EC3D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9" y="3872933"/>
            <a:ext cx="3606582" cy="18784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467639-E636-41D2-AC8E-E0C0FE73B6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4999"/>
          <a:stretch/>
        </p:blipFill>
        <p:spPr>
          <a:xfrm>
            <a:off x="5528396" y="3872933"/>
            <a:ext cx="2943413" cy="187842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83306F49-76B4-4B8A-8134-6BD92D02CCA1}"/>
              </a:ext>
            </a:extLst>
          </p:cNvPr>
          <p:cNvSpPr/>
          <p:nvPr/>
        </p:nvSpPr>
        <p:spPr>
          <a:xfrm>
            <a:off x="3839269" y="4661226"/>
            <a:ext cx="905522" cy="3018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8D75FB21-513B-4B2B-BCB7-EDBE01B47EB9}"/>
              </a:ext>
            </a:extLst>
          </p:cNvPr>
          <p:cNvSpPr/>
          <p:nvPr/>
        </p:nvSpPr>
        <p:spPr>
          <a:xfrm rot="16200000">
            <a:off x="6139731" y="4892571"/>
            <a:ext cx="45719" cy="642678"/>
          </a:xfrm>
          <a:prstGeom prst="leftBracket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73AEBFE2-AAC5-4C7A-A611-22AA8DA4D074}"/>
              </a:ext>
            </a:extLst>
          </p:cNvPr>
          <p:cNvSpPr/>
          <p:nvPr/>
        </p:nvSpPr>
        <p:spPr>
          <a:xfrm rot="16200000">
            <a:off x="6936368" y="5038044"/>
            <a:ext cx="45719" cy="767368"/>
          </a:xfrm>
          <a:prstGeom prst="leftBracket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1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2.3</a:t>
            </a:r>
          </a:p>
        </p:txBody>
      </p:sp>
    </p:spTree>
    <p:extLst>
      <p:ext uri="{BB962C8B-B14F-4D97-AF65-F5344CB8AC3E}">
        <p14:creationId xmlns:p14="http://schemas.microsoft.com/office/powerpoint/2010/main" val="1625023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Joining More than 2 Tables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A6955C-6AC0-4EDB-A5BA-ADC933E9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9419166" cy="4693619"/>
          </a:xfrm>
        </p:spPr>
        <p:txBody>
          <a:bodyPr>
            <a:normAutofit/>
          </a:bodyPr>
          <a:lstStyle/>
          <a:p>
            <a:r>
              <a:rPr lang="en-US" sz="2200" dirty="0"/>
              <a:t>SQL queries can include as many joins as needed to produce your desired result set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For every join in your query the </a:t>
            </a:r>
            <a:r>
              <a:rPr lang="en-US" sz="2200" b="1" dirty="0"/>
              <a:t>table</a:t>
            </a:r>
            <a:r>
              <a:rPr lang="en-US" sz="2200" dirty="0"/>
              <a:t>, </a:t>
            </a:r>
            <a:r>
              <a:rPr lang="en-US" sz="2200" b="1" dirty="0"/>
              <a:t>join type </a:t>
            </a:r>
            <a:r>
              <a:rPr lang="en-US" sz="2200" dirty="0"/>
              <a:t>and </a:t>
            </a:r>
            <a:r>
              <a:rPr lang="en-US" sz="2200" b="1" dirty="0"/>
              <a:t>on subclause </a:t>
            </a:r>
            <a:r>
              <a:rPr lang="en-US" sz="2200" dirty="0"/>
              <a:t>must be specified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200" dirty="0"/>
              <a:t>Join order does not matter!</a:t>
            </a:r>
          </a:p>
          <a:p>
            <a:pPr lvl="1"/>
            <a:r>
              <a:rPr lang="en-US" sz="2000" dirty="0"/>
              <a:t>Regardless of order in your query the database server will select the optimal table to begin with and from there decide which joins to perform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54659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2.4</a:t>
            </a:r>
          </a:p>
        </p:txBody>
      </p:sp>
    </p:spTree>
    <p:extLst>
      <p:ext uri="{BB962C8B-B14F-4D97-AF65-F5344CB8AC3E}">
        <p14:creationId xmlns:p14="http://schemas.microsoft.com/office/powerpoint/2010/main" val="729132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Joins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BCD4AA-FE32-4342-96C0-BB6F89F92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9095316" cy="46936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Cross Joins are used to generate a ‘Cartesian product’ of two tables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A ‘Cartesian product’ is every possible combination of 2 sets</a:t>
            </a:r>
          </a:p>
          <a:p>
            <a:pPr lvl="1"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200" dirty="0"/>
              <a:t>While seldom used compared to other joins, they are an excellent tool to have for data prep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71218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Sets</a:t>
            </a:r>
          </a:p>
        </p:txBody>
      </p:sp>
    </p:spTree>
    <p:extLst>
      <p:ext uri="{BB962C8B-B14F-4D97-AF65-F5344CB8AC3E}">
        <p14:creationId xmlns:p14="http://schemas.microsoft.com/office/powerpoint/2010/main" val="3877381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DD82C-52E5-4085-88EB-01FFCE20D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9260993" cy="3611037"/>
          </a:xfrm>
        </p:spPr>
        <p:txBody>
          <a:bodyPr>
            <a:normAutofit/>
          </a:bodyPr>
          <a:lstStyle/>
          <a:p>
            <a:r>
              <a:rPr lang="en-US" sz="2200" dirty="0"/>
              <a:t>In addition to joins, sets (meaning sets of rows) and set operators are a great way to combine, filter, and manipulate your data across multiple sources</a:t>
            </a:r>
          </a:p>
          <a:p>
            <a:endParaRPr lang="en-US" sz="2200" dirty="0"/>
          </a:p>
          <a:p>
            <a:r>
              <a:rPr lang="en-US" sz="2200" dirty="0"/>
              <a:t>In order to leverage set operators each set </a:t>
            </a:r>
            <a:r>
              <a:rPr lang="en-US" sz="2200" b="1" dirty="0"/>
              <a:t>must have the same number of columns and the same types for corresponding columns</a:t>
            </a:r>
          </a:p>
          <a:p>
            <a:endParaRPr lang="en-US" sz="2200" dirty="0"/>
          </a:p>
          <a:p>
            <a:r>
              <a:rPr lang="en-US" sz="2200" dirty="0"/>
              <a:t>Set operators: UNION (ALL), INTERSECT, and EXCEPT </a:t>
            </a:r>
          </a:p>
        </p:txBody>
      </p:sp>
    </p:spTree>
    <p:extLst>
      <p:ext uri="{BB962C8B-B14F-4D97-AF65-F5344CB8AC3E}">
        <p14:creationId xmlns:p14="http://schemas.microsoft.com/office/powerpoint/2010/main" val="600026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Operators</a:t>
            </a:r>
          </a:p>
        </p:txBody>
      </p:sp>
      <p:pic>
        <p:nvPicPr>
          <p:cNvPr id="1026" name="Picture 2" descr="Comparison of NULL values by use of set operators in SQL Server">
            <a:extLst>
              <a:ext uri="{FF2B5EF4-FFF2-40B4-BE49-F238E27FC236}">
                <a16:creationId xmlns:a16="http://schemas.microsoft.com/office/drawing/2014/main" id="{48504856-3F1F-4F40-A58A-ED9699AF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1897369"/>
            <a:ext cx="7791450" cy="2007881"/>
          </a:xfrm>
          <a:prstGeom prst="rect">
            <a:avLst/>
          </a:prstGeom>
          <a:solidFill>
            <a:srgbClr val="B5E61D"/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781443-A36E-42D0-BF7D-9EEF77136CF2}"/>
              </a:ext>
            </a:extLst>
          </p:cNvPr>
          <p:cNvSpPr txBox="1"/>
          <p:nvPr/>
        </p:nvSpPr>
        <p:spPr>
          <a:xfrm>
            <a:off x="1009650" y="4281794"/>
            <a:ext cx="25646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UNION keeps all rows from both sets and removes duplicates.  </a:t>
            </a:r>
            <a:r>
              <a:rPr lang="en-US" sz="1400" i="1" dirty="0"/>
              <a:t>UNION ALL </a:t>
            </a:r>
            <a:r>
              <a:rPr lang="en-US" sz="1400" dirty="0"/>
              <a:t>keeps all rows from both sets without removing duplicates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1A713-5B7C-46CE-A440-28AF3DB53303}"/>
              </a:ext>
            </a:extLst>
          </p:cNvPr>
          <p:cNvSpPr txBox="1"/>
          <p:nvPr/>
        </p:nvSpPr>
        <p:spPr>
          <a:xfrm>
            <a:off x="3848100" y="4281794"/>
            <a:ext cx="2564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INTERSECT keeps all rows that are present in both sets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5428DF-83CA-4AD6-9D38-9459B7B25F29}"/>
              </a:ext>
            </a:extLst>
          </p:cNvPr>
          <p:cNvSpPr txBox="1"/>
          <p:nvPr/>
        </p:nvSpPr>
        <p:spPr>
          <a:xfrm>
            <a:off x="6412704" y="4281794"/>
            <a:ext cx="25646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EXCEPT keeps all rows that are present in the first set but are not present in the second set</a:t>
            </a:r>
          </a:p>
        </p:txBody>
      </p:sp>
    </p:spTree>
    <p:extLst>
      <p:ext uri="{BB962C8B-B14F-4D97-AF65-F5344CB8AC3E}">
        <p14:creationId xmlns:p14="http://schemas.microsoft.com/office/powerpoint/2010/main" val="3523909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2.5</a:t>
            </a:r>
          </a:p>
        </p:txBody>
      </p:sp>
    </p:spTree>
    <p:extLst>
      <p:ext uri="{BB962C8B-B14F-4D97-AF65-F5344CB8AC3E}">
        <p14:creationId xmlns:p14="http://schemas.microsoft.com/office/powerpoint/2010/main" val="4277923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8054A1-14AA-4D56-A82D-A5F05B2A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3771"/>
            <a:ext cx="8993140" cy="46646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i="1" dirty="0"/>
              <a:t>primary key </a:t>
            </a:r>
            <a:r>
              <a:rPr lang="en-US" dirty="0"/>
              <a:t>is a unique identifier within a table while a </a:t>
            </a:r>
            <a:r>
              <a:rPr lang="en-US" i="1" dirty="0"/>
              <a:t>foreign key</a:t>
            </a:r>
            <a:r>
              <a:rPr lang="en-US" dirty="0"/>
              <a:t> serves as a link to another table where the same values serve as a primary key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</a:t>
            </a:r>
            <a:r>
              <a:rPr lang="en-US" i="1" dirty="0"/>
              <a:t>join</a:t>
            </a:r>
            <a:r>
              <a:rPr lang="en-US" dirty="0"/>
              <a:t> is an operation that uses related columns (primary/foreign) between tables to combine data from multiple tables into one query.  Located in the from clause!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can use joins to join more than 2 tables at a time (table aliases helpful here!)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Sets and set operators are a great way to combine, filter, and manipulate your data across multiple sources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Sets must have the same number of columns and the same types for corresponding columns</a:t>
            </a:r>
          </a:p>
        </p:txBody>
      </p:sp>
    </p:spTree>
    <p:extLst>
      <p:ext uri="{BB962C8B-B14F-4D97-AF65-F5344CB8AC3E}">
        <p14:creationId xmlns:p14="http://schemas.microsoft.com/office/powerpoint/2010/main" val="25584513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to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32750"/>
            <a:ext cx="9295342" cy="388077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Code Academy SQL Course: </a:t>
            </a:r>
            <a:r>
              <a:rPr lang="en-US" sz="2000" dirty="0">
                <a:hlinkClick r:id="rId2"/>
              </a:rPr>
              <a:t>https://www.codecademy.com/learn/learn-sql</a:t>
            </a:r>
            <a:endParaRPr lang="en-US" sz="2000" dirty="0"/>
          </a:p>
          <a:p>
            <a:pPr>
              <a:lnSpc>
                <a:spcPct val="200000"/>
              </a:lnSpc>
            </a:pPr>
            <a:r>
              <a:rPr lang="en-US" sz="2000" dirty="0"/>
              <a:t>SQL Zoo: </a:t>
            </a:r>
            <a:r>
              <a:rPr lang="en-US" sz="2000" dirty="0">
                <a:hlinkClick r:id="rId3"/>
              </a:rPr>
              <a:t>https://sqlzoo.net/</a:t>
            </a:r>
            <a:endParaRPr lang="en-US" sz="2000" dirty="0"/>
          </a:p>
          <a:p>
            <a:pPr>
              <a:lnSpc>
                <a:spcPct val="200000"/>
              </a:lnSpc>
            </a:pPr>
            <a:r>
              <a:rPr lang="en-US" sz="2000" dirty="0"/>
              <a:t>W3 Schools: </a:t>
            </a:r>
            <a:r>
              <a:rPr lang="en-US" sz="2000" dirty="0">
                <a:hlinkClick r:id="rId4"/>
              </a:rPr>
              <a:t>https://www.w3schools.com/sql/sql_exercises.asp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sz="2000" dirty="0"/>
          </a:p>
          <a:p>
            <a:pPr>
              <a:lnSpc>
                <a:spcPct val="20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5277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923296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c448b02-4488-4a47-a34a-2c3d811a2e28}" enabled="1" method="Privileged" siteId="{b1c14d5c-3625-45b3-a430-9552373a0c2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28231</TotalTime>
  <Words>1194</Words>
  <Application>Microsoft Office PowerPoint</Application>
  <PresentationFormat>Widescreen</PresentationFormat>
  <Paragraphs>176</Paragraphs>
  <Slides>30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Trebuchet MS</vt:lpstr>
      <vt:lpstr>Wingdings 3</vt:lpstr>
      <vt:lpstr>Facet</vt:lpstr>
      <vt:lpstr>SQL for Data Querying and Analysis</vt:lpstr>
      <vt:lpstr>Agenda</vt:lpstr>
      <vt:lpstr>Review</vt:lpstr>
      <vt:lpstr>Review!</vt:lpstr>
      <vt:lpstr>Anatomy of a SQL Query</vt:lpstr>
      <vt:lpstr>SQL Syntax Best Practices</vt:lpstr>
      <vt:lpstr>Relational Databases</vt:lpstr>
      <vt:lpstr>What are Relational Databases?</vt:lpstr>
      <vt:lpstr>Relational Database Concepts</vt:lpstr>
      <vt:lpstr>Joins</vt:lpstr>
      <vt:lpstr>What is a Join?</vt:lpstr>
      <vt:lpstr>Join Example</vt:lpstr>
      <vt:lpstr>Anatomy of a Join</vt:lpstr>
      <vt:lpstr>Inner Joins</vt:lpstr>
      <vt:lpstr>Demo Set 2.1</vt:lpstr>
      <vt:lpstr>Left Join</vt:lpstr>
      <vt:lpstr>Demo Set 2.2</vt:lpstr>
      <vt:lpstr>Full Joins</vt:lpstr>
      <vt:lpstr>Using Table Aliases with Joins</vt:lpstr>
      <vt:lpstr>Demo Set 2.3</vt:lpstr>
      <vt:lpstr>Joining More than 2 Tables</vt:lpstr>
      <vt:lpstr>Demo Set 2.4</vt:lpstr>
      <vt:lpstr>Cross Joins</vt:lpstr>
      <vt:lpstr>Sets</vt:lpstr>
      <vt:lpstr>Sets</vt:lpstr>
      <vt:lpstr>Set Operators</vt:lpstr>
      <vt:lpstr>Demo Set 2.5</vt:lpstr>
      <vt:lpstr>Review!</vt:lpstr>
      <vt:lpstr>Resources to Practice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SQL</dc:title>
  <dc:creator>Sean Scott</dc:creator>
  <cp:lastModifiedBy>Sean Scott</cp:lastModifiedBy>
  <cp:revision>83</cp:revision>
  <dcterms:created xsi:type="dcterms:W3CDTF">2022-05-16T22:13:08Z</dcterms:created>
  <dcterms:modified xsi:type="dcterms:W3CDTF">2026-09-01T17:31:54Z</dcterms:modified>
</cp:coreProperties>
</file>