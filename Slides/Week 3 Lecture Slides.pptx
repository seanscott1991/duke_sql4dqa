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3"/>
  </p:notesMasterIdLst>
  <p:sldIdLst>
    <p:sldId id="256" r:id="rId2"/>
    <p:sldId id="264" r:id="rId3"/>
    <p:sldId id="371" r:id="rId4"/>
    <p:sldId id="288" r:id="rId5"/>
    <p:sldId id="336" r:id="rId6"/>
    <p:sldId id="358" r:id="rId7"/>
    <p:sldId id="357" r:id="rId8"/>
    <p:sldId id="360" r:id="rId9"/>
    <p:sldId id="368" r:id="rId10"/>
    <p:sldId id="361" r:id="rId11"/>
    <p:sldId id="369" r:id="rId12"/>
    <p:sldId id="362" r:id="rId13"/>
    <p:sldId id="370" r:id="rId14"/>
    <p:sldId id="363" r:id="rId15"/>
    <p:sldId id="372" r:id="rId16"/>
    <p:sldId id="367" r:id="rId17"/>
    <p:sldId id="377" r:id="rId18"/>
    <p:sldId id="373" r:id="rId19"/>
    <p:sldId id="359" r:id="rId20"/>
    <p:sldId id="365" r:id="rId21"/>
    <p:sldId id="352" r:id="rId22"/>
    <p:sldId id="374" r:id="rId23"/>
    <p:sldId id="353" r:id="rId24"/>
    <p:sldId id="378" r:id="rId25"/>
    <p:sldId id="379" r:id="rId26"/>
    <p:sldId id="375" r:id="rId27"/>
    <p:sldId id="380" r:id="rId28"/>
    <p:sldId id="381" r:id="rId29"/>
    <p:sldId id="342" r:id="rId30"/>
    <p:sldId id="318" r:id="rId31"/>
    <p:sldId id="319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F7464D-CD69-4058-9987-9004615C1D58}" v="1" dt="2026-09-08T19:15:57.70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68105" autoAdjust="0"/>
  </p:normalViewPr>
  <p:slideViewPr>
    <p:cSldViewPr snapToGrid="0">
      <p:cViewPr varScale="1">
        <p:scale>
          <a:sx n="65" d="100"/>
          <a:sy n="65" d="100"/>
        </p:scale>
        <p:origin x="1315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5/10/relationships/revisionInfo" Target="revisionInfo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an Scott" userId="4c1f4d7f-f7d4-49e6-adb4-3a29056514cc" providerId="ADAL" clId="{CE95E15E-0A52-412C-9233-B783668D45CD}"/>
    <pc:docChg chg="modSld">
      <pc:chgData name="Sean Scott" userId="4c1f4d7f-f7d4-49e6-adb4-3a29056514cc" providerId="ADAL" clId="{CE95E15E-0A52-412C-9233-B783668D45CD}" dt="2026-09-08T22:12:27.141" v="1" actId="20577"/>
      <pc:docMkLst>
        <pc:docMk/>
      </pc:docMkLst>
      <pc:sldChg chg="modSp mod">
        <pc:chgData name="Sean Scott" userId="4c1f4d7f-f7d4-49e6-adb4-3a29056514cc" providerId="ADAL" clId="{CE95E15E-0A52-412C-9233-B783668D45CD}" dt="2026-09-08T22:12:27.141" v="1" actId="20577"/>
        <pc:sldMkLst>
          <pc:docMk/>
          <pc:sldMk cId="2598952364" sldId="256"/>
        </pc:sldMkLst>
        <pc:spChg chg="mod">
          <ac:chgData name="Sean Scott" userId="4c1f4d7f-f7d4-49e6-adb4-3a29056514cc" providerId="ADAL" clId="{CE95E15E-0A52-412C-9233-B783668D45CD}" dt="2026-09-08T22:12:27.141" v="1" actId="20577"/>
          <ac:spMkLst>
            <pc:docMk/>
            <pc:sldMk cId="2598952364" sldId="256"/>
            <ac:spMk id="3" creationId="{CD06E7E0-04B5-4AEC-9E58-ACC4A20A6311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B8FC64-E39C-4C42-B46F-635013E3CE61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128D9E-E9B9-4A2D-AB49-1C92CAFDAE5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3434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8979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4731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66683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6716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98956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752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78586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4443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4755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8816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4393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9143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16790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74990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355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29300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5784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0083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86885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602552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91845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84200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46852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5128D9E-E9B9-4A2D-AB49-1C92CAFDAE5A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892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F5898-5A22-4DB9-8321-F98B646902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9E715-AEDC-4C38-898A-79B0721DD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79479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F5898-5A22-4DB9-8321-F98B646902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9E715-AEDC-4C38-898A-79B0721DD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7132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F5898-5A22-4DB9-8321-F98B646902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9E715-AEDC-4C38-898A-79B0721DD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9943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F5898-5A22-4DB9-8321-F98B646902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9E715-AEDC-4C38-898A-79B0721DD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193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F5898-5A22-4DB9-8321-F98B646902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9E715-AEDC-4C38-898A-79B0721DD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1458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F5898-5A22-4DB9-8321-F98B646902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9E715-AEDC-4C38-898A-79B0721DD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8277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F5898-5A22-4DB9-8321-F98B646902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9E715-AEDC-4C38-898A-79B0721DD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22945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F5898-5A22-4DB9-8321-F98B646902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9E715-AEDC-4C38-898A-79B0721DD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09122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F5898-5A22-4DB9-8321-F98B646902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9E715-AEDC-4C38-898A-79B0721DD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0342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F5898-5A22-4DB9-8321-F98B646902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9E715-AEDC-4C38-898A-79B0721DD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794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F5898-5A22-4DB9-8321-F98B646902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9E715-AEDC-4C38-898A-79B0721DDC20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78888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F5898-5A22-4DB9-8321-F98B646902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9E715-AEDC-4C38-898A-79B0721DD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88134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F5898-5A22-4DB9-8321-F98B646902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9E715-AEDC-4C38-898A-79B0721DDC20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582580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F5898-5A22-4DB9-8321-F98B646902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9E715-AEDC-4C38-898A-79B0721DD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22081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F5898-5A22-4DB9-8321-F98B646902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9E715-AEDC-4C38-898A-79B0721DD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72172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F5898-5A22-4DB9-8321-F98B646902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F9E715-AEDC-4C38-898A-79B0721DD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5412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F5898-5A22-4DB9-8321-F98B64690223}" type="datetimeFigureOut">
              <a:rPr lang="en-US" smtClean="0"/>
              <a:t>9/8/2026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CEF9E715-AEDC-4C38-898A-79B0721DDC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369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sqlzoo.net/" TargetMode="External"/><Relationship Id="rId2" Type="http://schemas.openxmlformats.org/officeDocument/2006/relationships/hyperlink" Target="https://www.codecademy.com/learn/learn-sq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w3schools.com/sql/sql_exercises.asp" TargetMode="Externa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E8673-E267-4C34-83B2-E50F8C6C81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8343" y="2404531"/>
            <a:ext cx="6933657" cy="1646302"/>
          </a:xfrm>
        </p:spPr>
        <p:txBody>
          <a:bodyPr/>
          <a:lstStyle/>
          <a:p>
            <a:pPr algn="l"/>
            <a:r>
              <a:rPr lang="en-US" dirty="0"/>
              <a:t>SQL for Data Querying and Analysis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06E7E0-04B5-4AEC-9E58-ACC4A20A631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US"/>
              <a:t>Week 3 Lecture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8952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486FC-8DDC-4C84-B6A8-725DE7A8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1CE26-418F-45FC-AA99-0245893AD7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674027"/>
            <a:ext cx="8596668" cy="3880773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sz="2200" dirty="0"/>
              <a:t>Review</a:t>
            </a:r>
          </a:p>
          <a:p>
            <a:pPr>
              <a:lnSpc>
                <a:spcPct val="200000"/>
              </a:lnSpc>
            </a:pPr>
            <a:r>
              <a:rPr lang="en-US" sz="2200" dirty="0"/>
              <a:t>Sub Queries </a:t>
            </a:r>
          </a:p>
          <a:p>
            <a:pPr>
              <a:lnSpc>
                <a:spcPct val="200000"/>
              </a:lnSpc>
            </a:pPr>
            <a:r>
              <a:rPr lang="en-US" sz="2200" dirty="0"/>
              <a:t>Conditional Logic</a:t>
            </a:r>
          </a:p>
          <a:p>
            <a:pPr>
              <a:lnSpc>
                <a:spcPct val="200000"/>
              </a:lnSpc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6725679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486FC-8DDC-4C84-B6A8-725DE7A8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47945-CB99-4A2D-8AFD-A1EB2A987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16564"/>
            <a:ext cx="8860949" cy="4693619"/>
          </a:xfrm>
        </p:spPr>
        <p:txBody>
          <a:bodyPr>
            <a:normAutofit fontScale="77500" lnSpcReduction="20000"/>
          </a:bodyPr>
          <a:lstStyle/>
          <a:p>
            <a:r>
              <a:rPr lang="en-US" sz="2400" dirty="0"/>
              <a:t>A </a:t>
            </a:r>
            <a:r>
              <a:rPr lang="en-US" sz="2400" i="1" dirty="0"/>
              <a:t>primary key </a:t>
            </a:r>
            <a:r>
              <a:rPr lang="en-US" sz="2400" dirty="0"/>
              <a:t>is a unique identifier within a table while a </a:t>
            </a:r>
            <a:r>
              <a:rPr lang="en-US" sz="2400" i="1" dirty="0"/>
              <a:t>foreign key</a:t>
            </a:r>
            <a:r>
              <a:rPr lang="en-US" sz="2400" dirty="0"/>
              <a:t> serves as a link to another table where the same values serve as a primary key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A </a:t>
            </a:r>
            <a:r>
              <a:rPr lang="en-US" sz="2400" i="1" dirty="0"/>
              <a:t>join</a:t>
            </a:r>
            <a:r>
              <a:rPr lang="en-US" sz="2400" dirty="0"/>
              <a:t> is an operation that uses related columns (primary/foreign) between tables to combine data from multiple tables into one query.  Located in the from clause!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You can use joins to join more than 2 tables at a time (table aliases helpful here!)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Sets and set operators are a great way to combine, filter, and manipulate your data across multiple sources</a:t>
            </a:r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Sets must have the same number of columns and the same types for corresponding columns</a:t>
            </a:r>
            <a:endParaRPr lang="en-US" sz="2200" dirty="0"/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514957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E8673-E267-4C34-83B2-E50F8C6C81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8344" y="2404531"/>
            <a:ext cx="7766936" cy="1646302"/>
          </a:xfrm>
        </p:spPr>
        <p:txBody>
          <a:bodyPr/>
          <a:lstStyle/>
          <a:p>
            <a:pPr algn="l"/>
            <a:r>
              <a:rPr lang="en-US" dirty="0"/>
              <a:t>Sub Queries</a:t>
            </a:r>
          </a:p>
        </p:txBody>
      </p:sp>
    </p:spTree>
    <p:extLst>
      <p:ext uri="{BB962C8B-B14F-4D97-AF65-F5344CB8AC3E}">
        <p14:creationId xmlns:p14="http://schemas.microsoft.com/office/powerpoint/2010/main" val="557181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486FC-8DDC-4C84-B6A8-725DE7A8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47945-CB99-4A2D-8AFD-A1EB2A987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16564"/>
            <a:ext cx="8928305" cy="4693619"/>
          </a:xfrm>
        </p:spPr>
        <p:txBody>
          <a:bodyPr>
            <a:normAutofit/>
          </a:bodyPr>
          <a:lstStyle/>
          <a:p>
            <a:r>
              <a:rPr lang="en-US" sz="2200" dirty="0"/>
              <a:t>Sub queries are a </a:t>
            </a:r>
            <a:r>
              <a:rPr lang="en-US" sz="2200" b="1" dirty="0"/>
              <a:t>query within another query (containing query)</a:t>
            </a:r>
          </a:p>
          <a:p>
            <a:pPr lvl="1"/>
            <a:r>
              <a:rPr lang="en-US" sz="2000" dirty="0"/>
              <a:t>Always contained with parenthesis!</a:t>
            </a:r>
          </a:p>
          <a:p>
            <a:pPr lvl="1"/>
            <a:endParaRPr lang="en-US" sz="1800" dirty="0"/>
          </a:p>
          <a:p>
            <a:r>
              <a:rPr lang="en-US" sz="2200" dirty="0"/>
              <a:t>Like any SQL query, sub queries can return…</a:t>
            </a:r>
          </a:p>
          <a:p>
            <a:pPr lvl="1"/>
            <a:r>
              <a:rPr lang="en-US" sz="2000" dirty="0"/>
              <a:t>Single row and single column</a:t>
            </a:r>
          </a:p>
          <a:p>
            <a:pPr lvl="1"/>
            <a:r>
              <a:rPr lang="en-US" sz="2000" dirty="0"/>
              <a:t>Multiple rows and single column</a:t>
            </a:r>
          </a:p>
          <a:p>
            <a:pPr lvl="1"/>
            <a:r>
              <a:rPr lang="en-US" sz="2000" dirty="0"/>
              <a:t>Multiple rows and multiple columns</a:t>
            </a:r>
          </a:p>
          <a:p>
            <a:pPr lvl="1"/>
            <a:endParaRPr lang="en-US" sz="2000" dirty="0"/>
          </a:p>
          <a:p>
            <a:r>
              <a:rPr lang="en-US" sz="2200" dirty="0"/>
              <a:t>Sub queries are executed before the rest of the query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3441925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486FC-8DDC-4C84-B6A8-725DE7A8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Scalar Sub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47945-CB99-4A2D-8AFD-A1EB2A987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14218"/>
            <a:ext cx="8860949" cy="4693619"/>
          </a:xfrm>
        </p:spPr>
        <p:txBody>
          <a:bodyPr>
            <a:normAutofit/>
          </a:bodyPr>
          <a:lstStyle/>
          <a:p>
            <a:r>
              <a:rPr lang="en-US" sz="2200" dirty="0"/>
              <a:t>A sub query that returns a </a:t>
            </a:r>
            <a:r>
              <a:rPr lang="en-US" sz="2200" b="1" dirty="0"/>
              <a:t>single row and single column </a:t>
            </a:r>
            <a:r>
              <a:rPr lang="en-US" sz="2200" dirty="0"/>
              <a:t>is called a </a:t>
            </a:r>
            <a:r>
              <a:rPr lang="en-US" sz="2200" b="1" dirty="0"/>
              <a:t>scalar sub query</a:t>
            </a:r>
          </a:p>
          <a:p>
            <a:pPr marL="0" indent="0">
              <a:buNone/>
            </a:pPr>
            <a:endParaRPr lang="en-US" sz="2200" dirty="0"/>
          </a:p>
          <a:p>
            <a:r>
              <a:rPr lang="en-US" sz="2200" dirty="0"/>
              <a:t>They are most frequently used as part of a condition referencing equality/inequality (=, &lt;&gt;, &gt;=, &lt;=, &gt;, &lt;)</a:t>
            </a:r>
          </a:p>
          <a:p>
            <a:pPr marL="457200" lvl="1" indent="0">
              <a:buNone/>
            </a:pPr>
            <a:endParaRPr lang="en-US" sz="1800" dirty="0"/>
          </a:p>
          <a:p>
            <a:r>
              <a:rPr lang="en-US" sz="2200" dirty="0"/>
              <a:t>When using a sub query as part of an equality condition the sub query </a:t>
            </a:r>
            <a:r>
              <a:rPr lang="en-US" sz="2200" b="1" dirty="0"/>
              <a:t>must return a single row and single column</a:t>
            </a:r>
          </a:p>
          <a:p>
            <a:pPr lvl="1"/>
            <a:r>
              <a:rPr lang="en-US" sz="2000" dirty="0"/>
              <a:t>In other words… it must be scalar!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7451160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E8673-E267-4C34-83B2-E50F8C6C81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8344" y="2404531"/>
            <a:ext cx="7766936" cy="1646302"/>
          </a:xfrm>
        </p:spPr>
        <p:txBody>
          <a:bodyPr/>
          <a:lstStyle/>
          <a:p>
            <a:pPr algn="l"/>
            <a:r>
              <a:rPr lang="en-US" dirty="0"/>
              <a:t>Demo Set 3.1</a:t>
            </a:r>
          </a:p>
        </p:txBody>
      </p:sp>
    </p:spTree>
    <p:extLst>
      <p:ext uri="{BB962C8B-B14F-4D97-AF65-F5344CB8AC3E}">
        <p14:creationId xmlns:p14="http://schemas.microsoft.com/office/powerpoint/2010/main" val="753434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486FC-8DDC-4C84-B6A8-725DE7A8E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9487598" cy="1320800"/>
          </a:xfrm>
        </p:spPr>
        <p:txBody>
          <a:bodyPr/>
          <a:lstStyle/>
          <a:p>
            <a:r>
              <a:rPr lang="en-US" dirty="0"/>
              <a:t>Multi Row Single Column Sub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47945-CB99-4A2D-8AFD-A1EB2A987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14218"/>
            <a:ext cx="8860949" cy="4693619"/>
          </a:xfrm>
        </p:spPr>
        <p:txBody>
          <a:bodyPr>
            <a:normAutofit/>
          </a:bodyPr>
          <a:lstStyle/>
          <a:p>
            <a:r>
              <a:rPr lang="en-US" sz="2200" dirty="0"/>
              <a:t>Multiple row single column sub queries are used similarly to scalar sub queries </a:t>
            </a:r>
            <a:endParaRPr lang="en-US" sz="2200" b="1" dirty="0"/>
          </a:p>
          <a:p>
            <a:pPr marL="0" indent="0">
              <a:buNone/>
            </a:pPr>
            <a:endParaRPr lang="en-US" sz="2200" dirty="0"/>
          </a:p>
          <a:p>
            <a:r>
              <a:rPr lang="en-US" sz="2200" dirty="0"/>
              <a:t>However, we check for </a:t>
            </a:r>
            <a:r>
              <a:rPr lang="en-US" sz="2200" i="1" dirty="0"/>
              <a:t>membership </a:t>
            </a:r>
            <a:r>
              <a:rPr lang="en-US" sz="2200" dirty="0"/>
              <a:t>instead of </a:t>
            </a:r>
            <a:r>
              <a:rPr lang="en-US" sz="2200" i="1" dirty="0"/>
              <a:t>equality</a:t>
            </a:r>
          </a:p>
          <a:p>
            <a:pPr lvl="1"/>
            <a:r>
              <a:rPr lang="en-US" sz="2000" dirty="0"/>
              <a:t>We cannot equate a single value to a set of values</a:t>
            </a:r>
          </a:p>
          <a:p>
            <a:pPr marL="457200" lvl="1" indent="0">
              <a:buNone/>
            </a:pPr>
            <a:endParaRPr lang="en-US" sz="1800" dirty="0"/>
          </a:p>
          <a:p>
            <a:r>
              <a:rPr lang="en-US" sz="2200" dirty="0"/>
              <a:t>Use the IN and NOT IN operators with these sub queries as opposed to our equality/inequality operators 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22400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E8673-E267-4C34-83B2-E50F8C6C81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8344" y="2404531"/>
            <a:ext cx="7766936" cy="1646302"/>
          </a:xfrm>
        </p:spPr>
        <p:txBody>
          <a:bodyPr/>
          <a:lstStyle/>
          <a:p>
            <a:pPr algn="l"/>
            <a:r>
              <a:rPr lang="en-US" dirty="0"/>
              <a:t>Demo Set 3.2</a:t>
            </a:r>
          </a:p>
        </p:txBody>
      </p:sp>
    </p:spTree>
    <p:extLst>
      <p:ext uri="{BB962C8B-B14F-4D97-AF65-F5344CB8AC3E}">
        <p14:creationId xmlns:p14="http://schemas.microsoft.com/office/powerpoint/2010/main" val="24596007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486FC-8DDC-4C84-B6A8-725DE7A8E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9487598" cy="1320800"/>
          </a:xfrm>
        </p:spPr>
        <p:txBody>
          <a:bodyPr/>
          <a:lstStyle/>
          <a:p>
            <a:r>
              <a:rPr lang="en-US" dirty="0"/>
              <a:t>ANY and ALL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47945-CB99-4A2D-8AFD-A1EB2A987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14218"/>
            <a:ext cx="8860949" cy="4693619"/>
          </a:xfrm>
        </p:spPr>
        <p:txBody>
          <a:bodyPr>
            <a:normAutofit lnSpcReduction="10000"/>
          </a:bodyPr>
          <a:lstStyle/>
          <a:p>
            <a:r>
              <a:rPr lang="en-US" sz="2200" dirty="0"/>
              <a:t>The ANY and ALL operators offer a way to compare a single value to multiple values</a:t>
            </a:r>
          </a:p>
          <a:p>
            <a:pPr lvl="1"/>
            <a:r>
              <a:rPr lang="en-US" sz="2000" dirty="0"/>
              <a:t>ANY and ALL don’t have to be used in conjunction with a sub query but usually are</a:t>
            </a:r>
          </a:p>
          <a:p>
            <a:pPr marL="0" indent="0">
              <a:buNone/>
            </a:pPr>
            <a:endParaRPr lang="en-US" sz="2200" dirty="0"/>
          </a:p>
          <a:p>
            <a:r>
              <a:rPr lang="en-US" sz="2200" dirty="0"/>
              <a:t>For the ALL condition to be satisfied the specified condition must be met for </a:t>
            </a:r>
            <a:r>
              <a:rPr lang="en-US" sz="2200" i="1" dirty="0"/>
              <a:t>all</a:t>
            </a:r>
            <a:r>
              <a:rPr lang="en-US" sz="2200" dirty="0"/>
              <a:t> the values in the sub query</a:t>
            </a:r>
            <a:endParaRPr lang="en-US" sz="2000" dirty="0"/>
          </a:p>
          <a:p>
            <a:endParaRPr lang="en-US" sz="2200" dirty="0"/>
          </a:p>
          <a:p>
            <a:r>
              <a:rPr lang="en-US" sz="2200" dirty="0"/>
              <a:t>For the ANY condition to be satisfied the specified condition must be met for </a:t>
            </a:r>
            <a:r>
              <a:rPr lang="en-US" sz="2200" i="1" dirty="0"/>
              <a:t>any </a:t>
            </a:r>
            <a:r>
              <a:rPr lang="en-US" sz="2200" dirty="0"/>
              <a:t>of the values in the sub query</a:t>
            </a:r>
            <a:endParaRPr lang="en-US" sz="2000" dirty="0"/>
          </a:p>
          <a:p>
            <a:pPr marL="457200" lvl="1" indent="0">
              <a:buNone/>
            </a:pPr>
            <a:endParaRPr lang="en-US" sz="1800" dirty="0"/>
          </a:p>
          <a:p>
            <a:r>
              <a:rPr lang="en-US" sz="2200" dirty="0"/>
              <a:t>These operators are frequently used in the having clause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0973817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E8673-E267-4C34-83B2-E50F8C6C81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8344" y="2404531"/>
            <a:ext cx="7766936" cy="1646302"/>
          </a:xfrm>
        </p:spPr>
        <p:txBody>
          <a:bodyPr/>
          <a:lstStyle/>
          <a:p>
            <a:pPr algn="l"/>
            <a:r>
              <a:rPr lang="en-US" dirty="0"/>
              <a:t>Demo Set 3.3</a:t>
            </a:r>
          </a:p>
        </p:txBody>
      </p:sp>
    </p:spTree>
    <p:extLst>
      <p:ext uri="{BB962C8B-B14F-4D97-AF65-F5344CB8AC3E}">
        <p14:creationId xmlns:p14="http://schemas.microsoft.com/office/powerpoint/2010/main" val="40070062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486FC-8DDC-4C84-B6A8-725DE7A8E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9487598" cy="1320800"/>
          </a:xfrm>
        </p:spPr>
        <p:txBody>
          <a:bodyPr/>
          <a:lstStyle/>
          <a:p>
            <a:r>
              <a:rPr lang="en-US" dirty="0"/>
              <a:t>Multi Column Multi Row Sub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47945-CB99-4A2D-8AFD-A1EB2A987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14218"/>
            <a:ext cx="8860949" cy="4693619"/>
          </a:xfrm>
        </p:spPr>
        <p:txBody>
          <a:bodyPr>
            <a:normAutofit/>
          </a:bodyPr>
          <a:lstStyle/>
          <a:p>
            <a:r>
              <a:rPr lang="en-US" sz="2200" dirty="0"/>
              <a:t>Used similarly to multi row single column sub queries</a:t>
            </a:r>
          </a:p>
          <a:p>
            <a:pPr marL="0" indent="0">
              <a:buNone/>
            </a:pPr>
            <a:endParaRPr lang="en-US" sz="2200" dirty="0"/>
          </a:p>
          <a:p>
            <a:r>
              <a:rPr lang="en-US" sz="2200" dirty="0"/>
              <a:t>Checking for membership, but across multiple columns</a:t>
            </a:r>
          </a:p>
          <a:p>
            <a:endParaRPr lang="en-US" sz="2200" dirty="0"/>
          </a:p>
          <a:p>
            <a:r>
              <a:rPr lang="en-US" sz="2200" dirty="0"/>
              <a:t>Not frequently used but a good tool to have in your SQL toolbox!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474364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E8673-E267-4C34-83B2-E50F8C6C81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8344" y="2404531"/>
            <a:ext cx="7766936" cy="1646302"/>
          </a:xfrm>
        </p:spPr>
        <p:txBody>
          <a:bodyPr/>
          <a:lstStyle/>
          <a:p>
            <a:pPr algn="l"/>
            <a:r>
              <a:rPr lang="en-US" dirty="0"/>
              <a:t>Demo Set 3.4</a:t>
            </a:r>
          </a:p>
        </p:txBody>
      </p:sp>
    </p:spTree>
    <p:extLst>
      <p:ext uri="{BB962C8B-B14F-4D97-AF65-F5344CB8AC3E}">
        <p14:creationId xmlns:p14="http://schemas.microsoft.com/office/powerpoint/2010/main" val="23207307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486FC-8DDC-4C84-B6A8-725DE7A8E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9487598" cy="1320800"/>
          </a:xfrm>
        </p:spPr>
        <p:txBody>
          <a:bodyPr/>
          <a:lstStyle/>
          <a:p>
            <a:r>
              <a:rPr lang="en-US" dirty="0"/>
              <a:t>Sub Queries as a Data Source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47945-CB99-4A2D-8AFD-A1EB2A987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14218"/>
            <a:ext cx="9168002" cy="4693619"/>
          </a:xfrm>
        </p:spPr>
        <p:txBody>
          <a:bodyPr>
            <a:normAutofit/>
          </a:bodyPr>
          <a:lstStyle/>
          <a:p>
            <a:r>
              <a:rPr lang="en-US" sz="2200" dirty="0"/>
              <a:t>Remember a </a:t>
            </a:r>
            <a:r>
              <a:rPr lang="en-US" sz="2200" i="1" dirty="0"/>
              <a:t>table </a:t>
            </a:r>
            <a:r>
              <a:rPr lang="en-US" sz="2200" dirty="0"/>
              <a:t>in the FROM clause can be many things…</a:t>
            </a:r>
          </a:p>
          <a:p>
            <a:pPr lvl="1"/>
            <a:r>
              <a:rPr lang="en-US" sz="1800" dirty="0"/>
              <a:t>Including the result of a sub query!</a:t>
            </a:r>
          </a:p>
          <a:p>
            <a:pPr lvl="1"/>
            <a:endParaRPr lang="en-US" sz="1800" dirty="0"/>
          </a:p>
          <a:p>
            <a:r>
              <a:rPr lang="en-US" sz="2200" dirty="0"/>
              <a:t>When a sub query is included in the FROM clause it is considered a data source</a:t>
            </a:r>
          </a:p>
          <a:p>
            <a:pPr marL="0" indent="0">
              <a:buNone/>
            </a:pPr>
            <a:endParaRPr lang="en-US" sz="2200" dirty="0"/>
          </a:p>
          <a:p>
            <a:r>
              <a:rPr lang="en-US" sz="2200" dirty="0"/>
              <a:t>Very powerful because you can customize what inputs go into a join</a:t>
            </a:r>
          </a:p>
          <a:p>
            <a:pPr marL="0" indent="0">
              <a:buNone/>
            </a:pPr>
            <a:endParaRPr lang="en-US" sz="2200" dirty="0"/>
          </a:p>
          <a:p>
            <a:r>
              <a:rPr lang="en-US" sz="2200" dirty="0"/>
              <a:t>A common use is pairing an inner join with a subquery to filter rows to a specific subset of values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01288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E8673-E267-4C34-83B2-E50F8C6C81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8344" y="2404531"/>
            <a:ext cx="7766936" cy="1646302"/>
          </a:xfrm>
        </p:spPr>
        <p:txBody>
          <a:bodyPr/>
          <a:lstStyle/>
          <a:p>
            <a:pPr algn="l"/>
            <a:r>
              <a:rPr lang="en-US" dirty="0"/>
              <a:t>Demo Set 3.5</a:t>
            </a:r>
          </a:p>
        </p:txBody>
      </p:sp>
    </p:spTree>
    <p:extLst>
      <p:ext uri="{BB962C8B-B14F-4D97-AF65-F5344CB8AC3E}">
        <p14:creationId xmlns:p14="http://schemas.microsoft.com/office/powerpoint/2010/main" val="27623149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486FC-8DDC-4C84-B6A8-725DE7A8E5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7334" y="609600"/>
            <a:ext cx="9487598" cy="1320800"/>
          </a:xfrm>
        </p:spPr>
        <p:txBody>
          <a:bodyPr/>
          <a:lstStyle/>
          <a:p>
            <a:r>
              <a:rPr lang="en-US" dirty="0"/>
              <a:t>Sub Queries as a Common Table Expression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47945-CB99-4A2D-8AFD-A1EB2A987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14218"/>
            <a:ext cx="9088103" cy="4693619"/>
          </a:xfrm>
        </p:spPr>
        <p:txBody>
          <a:bodyPr>
            <a:normAutofit/>
          </a:bodyPr>
          <a:lstStyle/>
          <a:p>
            <a:r>
              <a:rPr lang="en-US" sz="2200" dirty="0"/>
              <a:t>Common Table Expressions (CTEs) leverage sub queries in the WITH clause (new clause alert!!!) </a:t>
            </a:r>
          </a:p>
          <a:p>
            <a:pPr lvl="1"/>
            <a:r>
              <a:rPr lang="en-US" sz="2000" dirty="0"/>
              <a:t>WITH clause is positioned before the SELECT clause</a:t>
            </a:r>
          </a:p>
          <a:p>
            <a:pPr lvl="1"/>
            <a:endParaRPr lang="en-US" sz="2000" dirty="0"/>
          </a:p>
          <a:p>
            <a:r>
              <a:rPr lang="en-US" sz="2200" dirty="0"/>
              <a:t>All CTEs are established at the beginning of the query and given names which are referenced later in the main containing query</a:t>
            </a:r>
          </a:p>
          <a:p>
            <a:pPr lvl="1"/>
            <a:endParaRPr lang="en-US" sz="2000" dirty="0"/>
          </a:p>
          <a:p>
            <a:r>
              <a:rPr lang="en-US" sz="2200" dirty="0"/>
              <a:t>CTEs are effective when there are many (repeated) sub queries in your query</a:t>
            </a:r>
          </a:p>
          <a:p>
            <a:pPr lvl="1"/>
            <a:r>
              <a:rPr lang="en-US" sz="2000" dirty="0"/>
              <a:t>Improves organization but can hurt interpretability! (in my opinion)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769191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4BC6A86-2186-40C6-9BE2-F44C0E6928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61" y="1027136"/>
            <a:ext cx="3470661" cy="53117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E43A372-3AE4-4EE1-9D73-BD77030736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4521" y="1027136"/>
            <a:ext cx="2713038" cy="5484800"/>
          </a:xfrm>
          <a:prstGeom prst="rect">
            <a:avLst/>
          </a:prstGeom>
        </p:spPr>
      </p:pic>
      <p:sp>
        <p:nvSpPr>
          <p:cNvPr id="9" name="Arrow: Right 8">
            <a:extLst>
              <a:ext uri="{FF2B5EF4-FFF2-40B4-BE49-F238E27FC236}">
                <a16:creationId xmlns:a16="http://schemas.microsoft.com/office/drawing/2014/main" id="{9666D573-0D5A-4938-A6AF-D5783337E104}"/>
              </a:ext>
            </a:extLst>
          </p:cNvPr>
          <p:cNvSpPr/>
          <p:nvPr/>
        </p:nvSpPr>
        <p:spPr>
          <a:xfrm>
            <a:off x="4079761" y="3420029"/>
            <a:ext cx="1339398" cy="26297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C5C1E9B9-1993-4D71-8700-3F8482CCBE65}"/>
              </a:ext>
            </a:extLst>
          </p:cNvPr>
          <p:cNvSpPr txBox="1">
            <a:spLocks/>
          </p:cNvSpPr>
          <p:nvPr/>
        </p:nvSpPr>
        <p:spPr>
          <a:xfrm>
            <a:off x="804334" y="723900"/>
            <a:ext cx="8619066" cy="262971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r" defTabSz="457200" rtl="0" eaLnBrk="1" latinLnBrk="0" hangingPunct="1">
              <a:spcBef>
                <a:spcPct val="0"/>
              </a:spcBef>
              <a:buNone/>
              <a:defRPr sz="54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en-US" sz="2800" dirty="0"/>
              <a:t>Which regions have higher member populations than regions 8, 9, and 7?</a:t>
            </a:r>
          </a:p>
        </p:txBody>
      </p:sp>
    </p:spTree>
    <p:extLst>
      <p:ext uri="{BB962C8B-B14F-4D97-AF65-F5344CB8AC3E}">
        <p14:creationId xmlns:p14="http://schemas.microsoft.com/office/powerpoint/2010/main" val="217176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E8673-E267-4C34-83B2-E50F8C6C81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8344" y="2404531"/>
            <a:ext cx="7766936" cy="1646302"/>
          </a:xfrm>
        </p:spPr>
        <p:txBody>
          <a:bodyPr/>
          <a:lstStyle/>
          <a:p>
            <a:pPr algn="l"/>
            <a:r>
              <a:rPr lang="en-US" dirty="0"/>
              <a:t>Demo Set 3.6</a:t>
            </a:r>
          </a:p>
        </p:txBody>
      </p:sp>
    </p:spTree>
    <p:extLst>
      <p:ext uri="{BB962C8B-B14F-4D97-AF65-F5344CB8AC3E}">
        <p14:creationId xmlns:p14="http://schemas.microsoft.com/office/powerpoint/2010/main" val="33215911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E8673-E267-4C34-83B2-E50F8C6C81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8344" y="2404531"/>
            <a:ext cx="7766936" cy="1646302"/>
          </a:xfrm>
        </p:spPr>
        <p:txBody>
          <a:bodyPr/>
          <a:lstStyle/>
          <a:p>
            <a:pPr algn="l"/>
            <a:r>
              <a:rPr lang="en-US" dirty="0"/>
              <a:t>Conditional Logic</a:t>
            </a:r>
          </a:p>
        </p:txBody>
      </p:sp>
    </p:spTree>
    <p:extLst>
      <p:ext uri="{BB962C8B-B14F-4D97-AF65-F5344CB8AC3E}">
        <p14:creationId xmlns:p14="http://schemas.microsoft.com/office/powerpoint/2010/main" val="37703395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486FC-8DDC-4C84-B6A8-725DE7A8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Conditional Logic?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47945-CB99-4A2D-8AFD-A1EB2A987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431974"/>
            <a:ext cx="9185757" cy="4693619"/>
          </a:xfrm>
        </p:spPr>
        <p:txBody>
          <a:bodyPr>
            <a:normAutofit/>
          </a:bodyPr>
          <a:lstStyle/>
          <a:p>
            <a:r>
              <a:rPr lang="en-US" sz="2200" dirty="0"/>
              <a:t>Conditional logic is the ability to take one of multiple paths during the execution of a program</a:t>
            </a:r>
          </a:p>
          <a:p>
            <a:pPr lvl="1"/>
            <a:r>
              <a:rPr lang="en-US" sz="2000" dirty="0"/>
              <a:t>Think IF -&gt; THEN</a:t>
            </a:r>
          </a:p>
          <a:p>
            <a:pPr marL="457200" lvl="1" indent="0">
              <a:buNone/>
            </a:pPr>
            <a:endParaRPr lang="en-US" sz="1800" dirty="0"/>
          </a:p>
          <a:p>
            <a:r>
              <a:rPr lang="en-US" sz="2200" dirty="0"/>
              <a:t>The CASE expression is SQL’s optimal method to express and execute conditional logic</a:t>
            </a:r>
          </a:p>
          <a:p>
            <a:pPr marL="0" indent="0">
              <a:buNone/>
            </a:pPr>
            <a:endParaRPr lang="en-US" sz="2200" dirty="0"/>
          </a:p>
          <a:p>
            <a:r>
              <a:rPr lang="en-US" sz="2200" dirty="0"/>
              <a:t>CASE expressions are executed in the SELECT cause (for our purposes)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077820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486FC-8DDC-4C84-B6A8-725DE7A8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Searched CASE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47945-CB99-4A2D-8AFD-A1EB2A987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16564"/>
            <a:ext cx="9176880" cy="4693619"/>
          </a:xfrm>
        </p:spPr>
        <p:txBody>
          <a:bodyPr>
            <a:normAutofit/>
          </a:bodyPr>
          <a:lstStyle/>
          <a:p>
            <a:r>
              <a:rPr lang="en-US" sz="2200" dirty="0"/>
              <a:t>Searched CASE expressions are the most common use for CASE expressions</a:t>
            </a:r>
          </a:p>
          <a:p>
            <a:pPr marL="0" indent="0">
              <a:buNone/>
            </a:pPr>
            <a:endParaRPr lang="en-US" sz="2200" dirty="0"/>
          </a:p>
          <a:p>
            <a:r>
              <a:rPr lang="en-US" sz="2200" dirty="0"/>
              <a:t>Can return a string, expression, column value or even the result of a sub query</a:t>
            </a:r>
          </a:p>
          <a:p>
            <a:endParaRPr lang="en-US" sz="2200" dirty="0"/>
          </a:p>
          <a:p>
            <a:r>
              <a:rPr lang="en-US" sz="2200" dirty="0"/>
              <a:t>The value following ELSE in a searched CASE expression is considered the default value of the expression</a:t>
            </a:r>
          </a:p>
          <a:p>
            <a:endParaRPr lang="en-US" sz="2200" dirty="0"/>
          </a:p>
          <a:p>
            <a:r>
              <a:rPr lang="en-US" sz="2200" dirty="0"/>
              <a:t>Once a condition in the expression is met, the rest of the expression is ignored</a:t>
            </a:r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8750219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E8673-E267-4C34-83B2-E50F8C6C81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8344" y="2404531"/>
            <a:ext cx="7766936" cy="1646302"/>
          </a:xfrm>
        </p:spPr>
        <p:txBody>
          <a:bodyPr/>
          <a:lstStyle/>
          <a:p>
            <a:pPr algn="l"/>
            <a:r>
              <a:rPr lang="en-US" dirty="0"/>
              <a:t>Demo Set 3.7</a:t>
            </a:r>
          </a:p>
        </p:txBody>
      </p:sp>
    </p:spTree>
    <p:extLst>
      <p:ext uri="{BB962C8B-B14F-4D97-AF65-F5344CB8AC3E}">
        <p14:creationId xmlns:p14="http://schemas.microsoft.com/office/powerpoint/2010/main" val="2391920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486FC-8DDC-4C84-B6A8-725DE7A8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 Set Transformations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47945-CB99-4A2D-8AFD-A1EB2A987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316564"/>
            <a:ext cx="8860949" cy="4693619"/>
          </a:xfrm>
        </p:spPr>
        <p:txBody>
          <a:bodyPr>
            <a:normAutofit/>
          </a:bodyPr>
          <a:lstStyle/>
          <a:p>
            <a:r>
              <a:rPr lang="en-US" sz="2200" dirty="0"/>
              <a:t>CASE expressions can help when you want results all in one row</a:t>
            </a:r>
          </a:p>
          <a:p>
            <a:pPr lvl="1"/>
            <a:r>
              <a:rPr lang="en-US" sz="2000" dirty="0"/>
              <a:t>Similar to transposing the results of a GROUP BY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200" dirty="0"/>
              <a:t>Using CASE to transform your result requires more code but is very flexible!</a:t>
            </a:r>
          </a:p>
          <a:p>
            <a:pPr lvl="1"/>
            <a:r>
              <a:rPr lang="en-US" sz="2000" dirty="0"/>
              <a:t>Shorthand is available! </a:t>
            </a:r>
          </a:p>
          <a:p>
            <a:endParaRPr lang="en-US" sz="2200" dirty="0"/>
          </a:p>
          <a:p>
            <a:r>
              <a:rPr lang="en-US" sz="2200" dirty="0"/>
              <a:t>A separate CASE expression is required for each column desired in your result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381172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486FC-8DDC-4C84-B6A8-725DE7A8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 Transformation Shorthand Syntax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E8054A1-14AA-4D56-A82D-A5F05B2A9F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83771"/>
            <a:ext cx="9469843" cy="4664629"/>
          </a:xfrm>
        </p:spPr>
        <p:txBody>
          <a:bodyPr>
            <a:normAutofit/>
          </a:bodyPr>
          <a:lstStyle/>
          <a:p>
            <a:r>
              <a:rPr lang="en-US" sz="2000" dirty="0"/>
              <a:t>There is a recently added new syntax to perform result set transformation</a:t>
            </a:r>
          </a:p>
          <a:p>
            <a:pPr lvl="1"/>
            <a:r>
              <a:rPr lang="en-US" sz="1800" dirty="0"/>
              <a:t>No longer need to use CASE expressions</a:t>
            </a:r>
          </a:p>
          <a:p>
            <a:pPr lvl="1"/>
            <a:endParaRPr lang="en-US" sz="18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endParaRPr lang="en-US" sz="20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B9CA86-CD7D-42F7-BB55-28F2F11569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902" y="2905124"/>
            <a:ext cx="3878346" cy="13207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52B4573-E252-4B8B-B297-12B0FF790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997045"/>
            <a:ext cx="4118049" cy="12288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2465E35-D07D-44E7-93C9-6E5F384E8E2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460" y="5001179"/>
            <a:ext cx="3818310" cy="132079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902A223-8FEB-4E74-8558-7A0BA48C34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7432" y="5200093"/>
            <a:ext cx="4021139" cy="112188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A3057B-E500-4EED-94A0-6A165BC03754}"/>
              </a:ext>
            </a:extLst>
          </p:cNvPr>
          <p:cNvSpPr txBox="1"/>
          <p:nvPr/>
        </p:nvSpPr>
        <p:spPr>
          <a:xfrm>
            <a:off x="4862178" y="2391936"/>
            <a:ext cx="957313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solidFill>
                  <a:schemeClr val="accent1"/>
                </a:solidFill>
              </a:rPr>
              <a:t>=</a:t>
            </a:r>
            <a:endParaRPr lang="en-US" sz="1400" dirty="0">
              <a:solidFill>
                <a:schemeClr val="accent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216869-5E50-4B3D-8A6D-FFFB87A42272}"/>
              </a:ext>
            </a:extLst>
          </p:cNvPr>
          <p:cNvSpPr txBox="1"/>
          <p:nvPr/>
        </p:nvSpPr>
        <p:spPr>
          <a:xfrm>
            <a:off x="4862177" y="4715520"/>
            <a:ext cx="957313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dirty="0">
                <a:solidFill>
                  <a:schemeClr val="accent1"/>
                </a:solidFill>
              </a:rPr>
              <a:t>=</a:t>
            </a:r>
            <a:endParaRPr lang="en-US" sz="14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22826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486FC-8DDC-4C84-B6A8-725DE7A8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 Transformation Update! Cont.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E8054A1-14AA-4D56-A82D-A5F05B2A9F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83771"/>
            <a:ext cx="9024228" cy="4664629"/>
          </a:xfrm>
        </p:spPr>
        <p:txBody>
          <a:bodyPr>
            <a:normAutofit/>
          </a:bodyPr>
          <a:lstStyle/>
          <a:p>
            <a:r>
              <a:rPr lang="en-US" sz="2000" dirty="0"/>
              <a:t>Important to remember that this syntax only works when you are looking at aggregations of row counts</a:t>
            </a:r>
          </a:p>
          <a:p>
            <a:pPr lvl="1"/>
            <a:r>
              <a:rPr lang="en-US" sz="1800" dirty="0"/>
              <a:t>If you want to aggregate on actual amounts in the table you will need to use CASE expressions</a:t>
            </a:r>
          </a:p>
          <a:p>
            <a:pPr lvl="1"/>
            <a:endParaRPr lang="en-US" sz="1800" dirty="0"/>
          </a:p>
          <a:p>
            <a:endParaRPr lang="en-US" sz="2000" dirty="0"/>
          </a:p>
          <a:p>
            <a:endParaRPr lang="en-US" sz="2000" dirty="0"/>
          </a:p>
          <a:p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endParaRPr lang="en-US" sz="20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7EB31E-070E-4E08-BD14-B40250DE98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11" y="3972951"/>
            <a:ext cx="4081253" cy="190929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C54BC30-6473-49C0-BE4F-F842B0F9E6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4079" y="4524735"/>
            <a:ext cx="3813718" cy="562138"/>
          </a:xfrm>
          <a:prstGeom prst="rect">
            <a:avLst/>
          </a:prstGeom>
        </p:spPr>
      </p:pic>
      <p:sp>
        <p:nvSpPr>
          <p:cNvPr id="14" name="Arrow: Right 13">
            <a:extLst>
              <a:ext uri="{FF2B5EF4-FFF2-40B4-BE49-F238E27FC236}">
                <a16:creationId xmlns:a16="http://schemas.microsoft.com/office/drawing/2014/main" id="{45769630-DE09-4312-9948-C3D82D7A8F76}"/>
              </a:ext>
            </a:extLst>
          </p:cNvPr>
          <p:cNvSpPr/>
          <p:nvPr/>
        </p:nvSpPr>
        <p:spPr>
          <a:xfrm>
            <a:off x="4758587" y="4739268"/>
            <a:ext cx="705511" cy="278781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0830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E8673-E267-4C34-83B2-E50F8C6C81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8344" y="2404531"/>
            <a:ext cx="7766936" cy="1646302"/>
          </a:xfrm>
        </p:spPr>
        <p:txBody>
          <a:bodyPr/>
          <a:lstStyle/>
          <a:p>
            <a:pPr algn="l"/>
            <a:r>
              <a:rPr lang="en-US" dirty="0"/>
              <a:t>Demo Set 3.8</a:t>
            </a:r>
          </a:p>
        </p:txBody>
      </p:sp>
    </p:spTree>
    <p:extLst>
      <p:ext uri="{BB962C8B-B14F-4D97-AF65-F5344CB8AC3E}">
        <p14:creationId xmlns:p14="http://schemas.microsoft.com/office/powerpoint/2010/main" val="196222263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486FC-8DDC-4C84-B6A8-725DE7A8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Sub Queries in the SELECT Clause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447945-CB99-4A2D-8AFD-A1EB2A987A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4" y="1554781"/>
            <a:ext cx="9176880" cy="4693619"/>
          </a:xfrm>
        </p:spPr>
        <p:txBody>
          <a:bodyPr>
            <a:normAutofit/>
          </a:bodyPr>
          <a:lstStyle/>
          <a:p>
            <a:r>
              <a:rPr lang="en-US" sz="2200" dirty="0"/>
              <a:t>Sub queries can also be leveraged in the SELECT Clause of a query</a:t>
            </a:r>
          </a:p>
          <a:p>
            <a:endParaRPr lang="en-US" sz="2200" dirty="0"/>
          </a:p>
          <a:p>
            <a:r>
              <a:rPr lang="en-US" sz="2200" dirty="0"/>
              <a:t>Sub queries in the SELECT clause will be </a:t>
            </a:r>
            <a:r>
              <a:rPr lang="en-US" sz="2200" i="1" dirty="0"/>
              <a:t>scalar </a:t>
            </a:r>
            <a:r>
              <a:rPr lang="en-US" sz="2200" dirty="0"/>
              <a:t>in nature</a:t>
            </a:r>
          </a:p>
          <a:p>
            <a:endParaRPr lang="en-US" sz="2200" dirty="0"/>
          </a:p>
          <a:p>
            <a:r>
              <a:rPr lang="en-US" sz="2200" dirty="0"/>
              <a:t>A common use case for sub queries in the SELECT clause is to calculate percent of a total</a:t>
            </a:r>
          </a:p>
          <a:p>
            <a:pPr marL="0" indent="0">
              <a:buNone/>
            </a:pPr>
            <a:endParaRPr lang="en-US" sz="2200" dirty="0"/>
          </a:p>
          <a:p>
            <a:pPr marL="0" indent="0"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1914037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E8673-E267-4C34-83B2-E50F8C6C81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8344" y="2404531"/>
            <a:ext cx="7766936" cy="1646302"/>
          </a:xfrm>
        </p:spPr>
        <p:txBody>
          <a:bodyPr/>
          <a:lstStyle/>
          <a:p>
            <a:pPr algn="l"/>
            <a:r>
              <a:rPr lang="en-US" dirty="0"/>
              <a:t>Demo Set 3.9</a:t>
            </a:r>
          </a:p>
        </p:txBody>
      </p:sp>
    </p:spTree>
    <p:extLst>
      <p:ext uri="{BB962C8B-B14F-4D97-AF65-F5344CB8AC3E}">
        <p14:creationId xmlns:p14="http://schemas.microsoft.com/office/powerpoint/2010/main" val="11669036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486FC-8DDC-4C84-B6A8-725DE7A8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Review!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E8054A1-14AA-4D56-A82D-A5F05B2A9F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583771"/>
            <a:ext cx="9469843" cy="4664629"/>
          </a:xfrm>
        </p:spPr>
        <p:txBody>
          <a:bodyPr>
            <a:normAutofit/>
          </a:bodyPr>
          <a:lstStyle/>
          <a:p>
            <a:r>
              <a:rPr lang="en-US" sz="2000" dirty="0"/>
              <a:t>Sub queries are a query within another query 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The result of a sub query can be a single row and single column, multiple rows and single column or multiple rows and multiple column</a:t>
            </a:r>
          </a:p>
          <a:p>
            <a:pPr marL="457200" lvl="1" indent="0">
              <a:buNone/>
            </a:pPr>
            <a:endParaRPr lang="en-US" sz="2000" dirty="0"/>
          </a:p>
          <a:p>
            <a:r>
              <a:rPr lang="en-US" sz="2000" dirty="0"/>
              <a:t>Sub queries are executed before the rest of the query</a:t>
            </a:r>
          </a:p>
          <a:p>
            <a:pPr marL="0" indent="0">
              <a:buNone/>
            </a:pPr>
            <a:endParaRPr lang="en-US" sz="2000" dirty="0"/>
          </a:p>
          <a:p>
            <a:r>
              <a:rPr lang="en-US" sz="2000" dirty="0"/>
              <a:t>The CASE expression is SQL’s optimal method to express and execute conditional logic</a:t>
            </a:r>
          </a:p>
          <a:p>
            <a:endParaRPr lang="en-US" sz="2000" dirty="0"/>
          </a:p>
          <a:p>
            <a:r>
              <a:rPr lang="en-US" sz="2000" dirty="0"/>
              <a:t>CASE expressions and sub queries are often used together!</a:t>
            </a:r>
          </a:p>
          <a:p>
            <a:endParaRPr lang="en-US" sz="2000" dirty="0"/>
          </a:p>
          <a:p>
            <a:endParaRPr lang="en-US" sz="2000" dirty="0"/>
          </a:p>
          <a:p>
            <a:pPr marL="0" indent="0">
              <a:buNone/>
            </a:pPr>
            <a:endParaRPr lang="en-US" sz="2000" dirty="0"/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5584513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2486FC-8DDC-4C84-B6A8-725DE7A8E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Resources to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B1CE26-418F-45FC-AA99-0245893AD7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7333" y="1732750"/>
            <a:ext cx="9295342" cy="3880773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en-US" sz="2000" dirty="0"/>
              <a:t>Code Academy SQL Course: </a:t>
            </a:r>
            <a:r>
              <a:rPr lang="en-US" sz="2000" dirty="0">
                <a:hlinkClick r:id="rId2"/>
              </a:rPr>
              <a:t>https://www.codecademy.com/learn/learn-sql</a:t>
            </a:r>
            <a:endParaRPr lang="en-US" sz="2000" dirty="0"/>
          </a:p>
          <a:p>
            <a:pPr>
              <a:lnSpc>
                <a:spcPct val="200000"/>
              </a:lnSpc>
            </a:pPr>
            <a:r>
              <a:rPr lang="en-US" sz="2000" dirty="0"/>
              <a:t>SQL Zoo: </a:t>
            </a:r>
            <a:r>
              <a:rPr lang="en-US" sz="2000" dirty="0">
                <a:hlinkClick r:id="rId3"/>
              </a:rPr>
              <a:t>https://sqlzoo.net/</a:t>
            </a:r>
            <a:endParaRPr lang="en-US" sz="2000" dirty="0"/>
          </a:p>
          <a:p>
            <a:pPr>
              <a:lnSpc>
                <a:spcPct val="200000"/>
              </a:lnSpc>
            </a:pPr>
            <a:r>
              <a:rPr lang="en-US" sz="2000" dirty="0"/>
              <a:t>W3 Schools: </a:t>
            </a:r>
            <a:r>
              <a:rPr lang="en-US" sz="2000" dirty="0">
                <a:hlinkClick r:id="rId4"/>
              </a:rPr>
              <a:t>https://www.w3schools.com/sql/sql_exercises.asp</a:t>
            </a:r>
            <a:endParaRPr lang="en-US" sz="2000" dirty="0"/>
          </a:p>
          <a:p>
            <a:pPr marL="0" indent="0">
              <a:lnSpc>
                <a:spcPct val="200000"/>
              </a:lnSpc>
              <a:buNone/>
            </a:pPr>
            <a:endParaRPr lang="en-US" sz="2000" dirty="0"/>
          </a:p>
          <a:p>
            <a:pPr>
              <a:lnSpc>
                <a:spcPct val="200000"/>
              </a:lnSpc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552777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E8673-E267-4C34-83B2-E50F8C6C81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8344" y="2404531"/>
            <a:ext cx="7766936" cy="1646302"/>
          </a:xfrm>
        </p:spPr>
        <p:txBody>
          <a:bodyPr/>
          <a:lstStyle/>
          <a:p>
            <a:pPr algn="l"/>
            <a:r>
              <a:rPr lang="en-US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292329651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6c448b02-4488-4a47-a34a-2c3d811a2e28}" enabled="1" method="Privileged" siteId="{b1c14d5c-3625-45b3-a430-9552373a0c2f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32517</TotalTime>
  <Words>1070</Words>
  <Application>Microsoft Office PowerPoint</Application>
  <PresentationFormat>Widescreen</PresentationFormat>
  <Paragraphs>170</Paragraphs>
  <Slides>31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Trebuchet MS</vt:lpstr>
      <vt:lpstr>Wingdings 3</vt:lpstr>
      <vt:lpstr>Facet</vt:lpstr>
      <vt:lpstr>SQL for Data Querying and Analysis</vt:lpstr>
      <vt:lpstr>Agenda</vt:lpstr>
      <vt:lpstr>Review</vt:lpstr>
      <vt:lpstr>Sub Queries</vt:lpstr>
      <vt:lpstr>Sub Queries</vt:lpstr>
      <vt:lpstr>Scalar Sub Queries</vt:lpstr>
      <vt:lpstr>Demo Set 3.1</vt:lpstr>
      <vt:lpstr>Multi Row Single Column Sub Queries</vt:lpstr>
      <vt:lpstr>Demo Set 3.2</vt:lpstr>
      <vt:lpstr>ANY and ALL Operators</vt:lpstr>
      <vt:lpstr>Demo Set 3.3</vt:lpstr>
      <vt:lpstr>Multi Column Multi Row Sub Queries</vt:lpstr>
      <vt:lpstr>Demo Set 3.4</vt:lpstr>
      <vt:lpstr>Sub Queries as a Data Source</vt:lpstr>
      <vt:lpstr>Demo Set 3.5</vt:lpstr>
      <vt:lpstr>Sub Queries as a Common Table Expression</vt:lpstr>
      <vt:lpstr>PowerPoint Presentation</vt:lpstr>
      <vt:lpstr>Demo Set 3.6</vt:lpstr>
      <vt:lpstr>Conditional Logic</vt:lpstr>
      <vt:lpstr>What is Conditional Logic?</vt:lpstr>
      <vt:lpstr>Searched CASE Expressions</vt:lpstr>
      <vt:lpstr>Demo Set 3.7</vt:lpstr>
      <vt:lpstr>Result Set Transformations</vt:lpstr>
      <vt:lpstr>Result Transformation Shorthand Syntax </vt:lpstr>
      <vt:lpstr>Result Transformation Update! Cont. </vt:lpstr>
      <vt:lpstr>Demo Set 3.8</vt:lpstr>
      <vt:lpstr>Sub Queries in the SELECT Clause</vt:lpstr>
      <vt:lpstr>Demo Set 3.9</vt:lpstr>
      <vt:lpstr>Review!</vt:lpstr>
      <vt:lpstr>Resources to Practice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SQL</dc:title>
  <dc:creator>Sean Scott</dc:creator>
  <cp:lastModifiedBy>Sean Scott</cp:lastModifiedBy>
  <cp:revision>81</cp:revision>
  <dcterms:created xsi:type="dcterms:W3CDTF">2022-05-16T22:13:08Z</dcterms:created>
  <dcterms:modified xsi:type="dcterms:W3CDTF">2026-09-08T22:12:28Z</dcterms:modified>
</cp:coreProperties>
</file>