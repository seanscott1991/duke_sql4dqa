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8"/>
  </p:notesMasterIdLst>
  <p:sldIdLst>
    <p:sldId id="256" r:id="rId2"/>
    <p:sldId id="257" r:id="rId3"/>
    <p:sldId id="264" r:id="rId4"/>
    <p:sldId id="266" r:id="rId5"/>
    <p:sldId id="319" r:id="rId6"/>
    <p:sldId id="318" r:id="rId7"/>
    <p:sldId id="267" r:id="rId8"/>
    <p:sldId id="269" r:id="rId9"/>
    <p:sldId id="265" r:id="rId10"/>
    <p:sldId id="259" r:id="rId11"/>
    <p:sldId id="262" r:id="rId12"/>
    <p:sldId id="280" r:id="rId13"/>
    <p:sldId id="282" r:id="rId14"/>
    <p:sldId id="283" r:id="rId15"/>
    <p:sldId id="284" r:id="rId16"/>
    <p:sldId id="285" r:id="rId17"/>
    <p:sldId id="286" r:id="rId18"/>
    <p:sldId id="287" r:id="rId19"/>
    <p:sldId id="320" r:id="rId20"/>
    <p:sldId id="290" r:id="rId21"/>
    <p:sldId id="272" r:id="rId22"/>
    <p:sldId id="321" r:id="rId23"/>
    <p:sldId id="322" r:id="rId24"/>
    <p:sldId id="291" r:id="rId25"/>
    <p:sldId id="288" r:id="rId26"/>
    <p:sldId id="315" r:id="rId27"/>
    <p:sldId id="273" r:id="rId28"/>
    <p:sldId id="292" r:id="rId29"/>
    <p:sldId id="313" r:id="rId30"/>
    <p:sldId id="274" r:id="rId31"/>
    <p:sldId id="293" r:id="rId32"/>
    <p:sldId id="301" r:id="rId33"/>
    <p:sldId id="300" r:id="rId34"/>
    <p:sldId id="299" r:id="rId35"/>
    <p:sldId id="314" r:id="rId36"/>
    <p:sldId id="275" r:id="rId37"/>
    <p:sldId id="308" r:id="rId38"/>
    <p:sldId id="306" r:id="rId39"/>
    <p:sldId id="316" r:id="rId40"/>
    <p:sldId id="276" r:id="rId41"/>
    <p:sldId id="307" r:id="rId42"/>
    <p:sldId id="304" r:id="rId43"/>
    <p:sldId id="305" r:id="rId44"/>
    <p:sldId id="311" r:id="rId45"/>
    <p:sldId id="317" r:id="rId46"/>
    <p:sldId id="277" r:id="rId47"/>
    <p:sldId id="309" r:id="rId48"/>
    <p:sldId id="329" r:id="rId49"/>
    <p:sldId id="330" r:id="rId50"/>
    <p:sldId id="331" r:id="rId51"/>
    <p:sldId id="326" r:id="rId52"/>
    <p:sldId id="296" r:id="rId53"/>
    <p:sldId id="327" r:id="rId54"/>
    <p:sldId id="328" r:id="rId55"/>
    <p:sldId id="270" r:id="rId56"/>
    <p:sldId id="263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6788" autoAdjust="0"/>
  </p:normalViewPr>
  <p:slideViewPr>
    <p:cSldViewPr snapToGrid="0">
      <p:cViewPr varScale="1">
        <p:scale>
          <a:sx n="73" d="100"/>
          <a:sy n="73" d="100"/>
        </p:scale>
        <p:origin x="1027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n Scott" userId="4c1f4d7f-f7d4-49e6-adb4-3a29056514cc" providerId="ADAL" clId="{CE95E15E-0A52-412C-9233-B783668D45CD}"/>
    <pc:docChg chg="modSld">
      <pc:chgData name="Sean Scott" userId="4c1f4d7f-f7d4-49e6-adb4-3a29056514cc" providerId="ADAL" clId="{CE95E15E-0A52-412C-9233-B783668D45CD}" dt="2026-08-25T18:20:41.218" v="14" actId="20577"/>
      <pc:docMkLst>
        <pc:docMk/>
      </pc:docMkLst>
      <pc:sldChg chg="modSp mod">
        <pc:chgData name="Sean Scott" userId="4c1f4d7f-f7d4-49e6-adb4-3a29056514cc" providerId="ADAL" clId="{CE95E15E-0A52-412C-9233-B783668D45CD}" dt="2026-08-25T18:20:02.059" v="2" actId="20577"/>
        <pc:sldMkLst>
          <pc:docMk/>
          <pc:sldMk cId="3672567979" sldId="264"/>
        </pc:sldMkLst>
        <pc:spChg chg="mod">
          <ac:chgData name="Sean Scott" userId="4c1f4d7f-f7d4-49e6-adb4-3a29056514cc" providerId="ADAL" clId="{CE95E15E-0A52-412C-9233-B783668D45CD}" dt="2026-08-25T18:20:02.059" v="2" actId="20577"/>
          <ac:spMkLst>
            <pc:docMk/>
            <pc:sldMk cId="3672567979" sldId="264"/>
            <ac:spMk id="3" creationId="{1DB1CE26-418F-45FC-AA99-0245893AD75B}"/>
          </ac:spMkLst>
        </pc:spChg>
      </pc:sldChg>
      <pc:sldChg chg="modSp mod">
        <pc:chgData name="Sean Scott" userId="4c1f4d7f-f7d4-49e6-adb4-3a29056514cc" providerId="ADAL" clId="{CE95E15E-0A52-412C-9233-B783668D45CD}" dt="2026-08-25T18:20:41.218" v="14" actId="20577"/>
        <pc:sldMkLst>
          <pc:docMk/>
          <pc:sldMk cId="3289836190" sldId="266"/>
        </pc:sldMkLst>
        <pc:spChg chg="mod">
          <ac:chgData name="Sean Scott" userId="4c1f4d7f-f7d4-49e6-adb4-3a29056514cc" providerId="ADAL" clId="{CE95E15E-0A52-412C-9233-B783668D45CD}" dt="2026-08-25T18:20:41.218" v="14" actId="20577"/>
          <ac:spMkLst>
            <pc:docMk/>
            <pc:sldMk cId="3289836190" sldId="266"/>
            <ac:spMk id="3" creationId="{1DB1CE26-418F-45FC-AA99-0245893AD7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8FC64-E39C-4C42-B46F-635013E3CE6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28D9E-E9B9-4A2D-AB49-1C92CAFDA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4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10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3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23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93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17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21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37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93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6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90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546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77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45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827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6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81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081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27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248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801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837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314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744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604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692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911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47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082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238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69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4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94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9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45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7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9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12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3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9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7888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13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8258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08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21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4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F5898-5A22-4DB9-8321-F98B646902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6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sql/sql_ref_sqlserver.asp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sqlzoo.net/" TargetMode="External"/><Relationship Id="rId2" Type="http://schemas.openxmlformats.org/officeDocument/2006/relationships/hyperlink" Target="https://www.codecademy.com/learn/learn-sq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sql/sql_exercises.asp" TargetMode="Externa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6945644" cy="1646302"/>
          </a:xfrm>
        </p:spPr>
        <p:txBody>
          <a:bodyPr/>
          <a:lstStyle/>
          <a:p>
            <a:pPr algn="l"/>
            <a:r>
              <a:rPr lang="en-US" dirty="0"/>
              <a:t>SQL for Data Querying 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6E7E0-04B5-4AEC-9E58-ACC4A20A63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Week 1 Lecture</a:t>
            </a:r>
          </a:p>
        </p:txBody>
      </p:sp>
    </p:spTree>
    <p:extLst>
      <p:ext uri="{BB962C8B-B14F-4D97-AF65-F5344CB8AC3E}">
        <p14:creationId xmlns:p14="http://schemas.microsoft.com/office/powerpoint/2010/main" val="2598952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4027"/>
            <a:ext cx="8596668" cy="38807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Introduction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Course Overview and Structure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MySQL Workbench Overview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Why Should I learn SQL?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What are Relational Databases?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Let’s Code!</a:t>
            </a:r>
          </a:p>
        </p:txBody>
      </p:sp>
    </p:spTree>
    <p:extLst>
      <p:ext uri="{BB962C8B-B14F-4D97-AF65-F5344CB8AC3E}">
        <p14:creationId xmlns:p14="http://schemas.microsoft.com/office/powerpoint/2010/main" val="2475748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74027"/>
            <a:ext cx="9150247" cy="388077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A little bit about myself…</a:t>
            </a:r>
          </a:p>
          <a:p>
            <a:pPr lvl="1">
              <a:lnSpc>
                <a:spcPct val="200000"/>
              </a:lnSpc>
            </a:pPr>
            <a:r>
              <a:rPr lang="en-US" sz="1800" dirty="0"/>
              <a:t>I graduated from UNC Chapel Hill and received my MS in Business Analytics at Fordham University </a:t>
            </a:r>
          </a:p>
          <a:p>
            <a:pPr lvl="1">
              <a:lnSpc>
                <a:spcPct val="200000"/>
              </a:lnSpc>
            </a:pPr>
            <a:r>
              <a:rPr lang="en-US" sz="1800" dirty="0"/>
              <a:t>I currently work as an analytical consultant at SAS in Cary and previously worked for IBM (use a lot of SQL in both roles!)</a:t>
            </a:r>
          </a:p>
          <a:p>
            <a:pPr lvl="1">
              <a:lnSpc>
                <a:spcPct val="200000"/>
              </a:lnSpc>
            </a:pPr>
            <a:r>
              <a:rPr lang="en-US" sz="1800" dirty="0"/>
              <a:t>Outside of work I enjoy playing soccer, running and spending time with my cat</a:t>
            </a:r>
          </a:p>
          <a:p>
            <a:pPr marL="457200" lvl="1" indent="0">
              <a:lnSpc>
                <a:spcPct val="20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72567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7174"/>
            <a:ext cx="9370792" cy="45743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5 week course, each week is a different unit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Each week consists of a lecture (Tuesday) and a lab (Thursday)</a:t>
            </a:r>
          </a:p>
          <a:p>
            <a:pPr lvl="1">
              <a:lnSpc>
                <a:spcPct val="200000"/>
              </a:lnSpc>
            </a:pPr>
            <a:r>
              <a:rPr lang="en-US" sz="2000" b="0" i="0" dirty="0">
                <a:solidFill>
                  <a:srgbClr val="24292F"/>
                </a:solidFill>
                <a:effectLst/>
                <a:latin typeface="-apple-system"/>
              </a:rPr>
              <a:t>Lectures will be a mixture of slides and demos</a:t>
            </a:r>
          </a:p>
          <a:p>
            <a:pPr lvl="1">
              <a:lnSpc>
                <a:spcPct val="200000"/>
              </a:lnSpc>
            </a:pPr>
            <a:r>
              <a:rPr lang="en-US" sz="2000" b="0" i="0" dirty="0">
                <a:solidFill>
                  <a:srgbClr val="24292F"/>
                </a:solidFill>
                <a:effectLst/>
                <a:latin typeface="-apple-system"/>
              </a:rPr>
              <a:t>Labs will be fully interactive and consist of SQL practice problems that you will complete and submit during class time</a:t>
            </a:r>
            <a:endParaRPr lang="en-US" sz="1800" dirty="0"/>
          </a:p>
          <a:p>
            <a:pPr>
              <a:lnSpc>
                <a:spcPct val="200000"/>
              </a:lnSpc>
            </a:pPr>
            <a:r>
              <a:rPr lang="en-US" sz="2000" dirty="0"/>
              <a:t>Office hours are Wednesdays from 4:00 – 5:00 </a:t>
            </a:r>
            <a:r>
              <a:rPr lang="en-US" sz="2000"/>
              <a:t>(tentative) </a:t>
            </a:r>
            <a:r>
              <a:rPr lang="en-US" sz="2000" dirty="0"/>
              <a:t>via zoom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All course info can be found on the course GitHub page!</a:t>
            </a:r>
          </a:p>
          <a:p>
            <a:pPr>
              <a:lnSpc>
                <a:spcPct val="20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89836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4027"/>
            <a:ext cx="9278324" cy="388077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This is a pass/fail course.  Grade breakdown is as follows:</a:t>
            </a:r>
          </a:p>
          <a:p>
            <a:pPr lvl="1">
              <a:lnSpc>
                <a:spcPct val="200000"/>
              </a:lnSpc>
            </a:pPr>
            <a:r>
              <a:rPr lang="en-US" sz="1800" dirty="0"/>
              <a:t>Labs (33% of grade)</a:t>
            </a:r>
          </a:p>
          <a:p>
            <a:pPr lvl="1">
              <a:lnSpc>
                <a:spcPct val="200000"/>
              </a:lnSpc>
            </a:pPr>
            <a:r>
              <a:rPr lang="en-US" sz="1800" dirty="0"/>
              <a:t>Mid Term Assignment (33% of grade)</a:t>
            </a:r>
          </a:p>
          <a:p>
            <a:pPr lvl="1">
              <a:lnSpc>
                <a:spcPct val="200000"/>
              </a:lnSpc>
            </a:pPr>
            <a:r>
              <a:rPr lang="en-US" sz="1800" dirty="0"/>
              <a:t>Final Assignment (33% of Grade)</a:t>
            </a:r>
          </a:p>
          <a:p>
            <a:pPr marL="0" indent="0">
              <a:lnSpc>
                <a:spcPct val="20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34896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Succeed!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74027"/>
            <a:ext cx="9011197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Spend time with provided code as opposed to provided slides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800" dirty="0"/>
          </a:p>
          <a:p>
            <a:pPr>
              <a:lnSpc>
                <a:spcPct val="150000"/>
              </a:lnSpc>
            </a:pPr>
            <a:r>
              <a:rPr lang="en-US" sz="2400" dirty="0"/>
              <a:t>Write your own code from scratch</a:t>
            </a:r>
          </a:p>
          <a:p>
            <a:pPr marL="0" indent="0">
              <a:lnSpc>
                <a:spcPct val="150000"/>
              </a:lnSpc>
              <a:buNone/>
            </a:pPr>
            <a:endParaRPr lang="en-US" sz="800" dirty="0"/>
          </a:p>
          <a:p>
            <a:pPr>
              <a:lnSpc>
                <a:spcPct val="150000"/>
              </a:lnSpc>
            </a:pPr>
            <a:r>
              <a:rPr lang="en-US" sz="2400" dirty="0"/>
              <a:t>Ask questions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0253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 Workbench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4027"/>
            <a:ext cx="9168002" cy="457437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MySQL Workbench is the querying tool we will be using for this course (type SQL code into the tool and get data back!)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2000" dirty="0"/>
              <a:t>MySQL Workbench sits on top of MySQL Server which is a widely used open-source relational database management system (RDBMS)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2000" b="1" dirty="0"/>
              <a:t>Everyone should have it installed by now and be connected to data!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200" b="1" dirty="0"/>
          </a:p>
          <a:p>
            <a:pPr>
              <a:lnSpc>
                <a:spcPct val="150000"/>
              </a:lnSpc>
            </a:pPr>
            <a:r>
              <a:rPr lang="en-US" sz="2000" dirty="0"/>
              <a:t>More info and usage tips and tricks can be found in installation instructions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Note:  </a:t>
            </a:r>
            <a:r>
              <a:rPr lang="en-US" sz="2000" b="1" dirty="0"/>
              <a:t>Please close out of MySQL Workbench when not actively querying!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42747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SQL?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4027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SQL stands for </a:t>
            </a:r>
            <a:r>
              <a:rPr lang="en-US" sz="2000" b="1" dirty="0"/>
              <a:t>Structured Querying Language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Initially developed at IBM in the early 1970’s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SQL is how we communicate with databases!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We can use SQL to pull, edit, or add information to a database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SQL is typed into a querying tool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363428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learn SQL?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2750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Universally used across industries!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Data analysts, scientists and engineers use it and so can you!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No more barriers between you and your data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Databases are interesting and worth having conversations with ;)</a:t>
            </a:r>
          </a:p>
          <a:p>
            <a:pPr marL="0" indent="0">
              <a:lnSpc>
                <a:spcPct val="20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81350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Relational Databases?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8860949" cy="3611037"/>
          </a:xfrm>
        </p:spPr>
        <p:txBody>
          <a:bodyPr>
            <a:normAutofit/>
          </a:bodyPr>
          <a:lstStyle/>
          <a:p>
            <a:r>
              <a:rPr lang="en-US" sz="2000" dirty="0"/>
              <a:t>Relational databases store data in tables that are </a:t>
            </a:r>
            <a:r>
              <a:rPr lang="en-US" sz="2000" i="1" dirty="0"/>
              <a:t>related </a:t>
            </a:r>
            <a:r>
              <a:rPr lang="en-US" sz="2000" dirty="0"/>
              <a:t>to one another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They are key to understanding and writing effective SQL code!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Every row in every table has a unique </a:t>
            </a:r>
            <a:r>
              <a:rPr lang="en-US" sz="2000" b="1" dirty="0"/>
              <a:t>key </a:t>
            </a:r>
            <a:r>
              <a:rPr lang="en-US" sz="2000" dirty="0"/>
              <a:t>that identifies the row and can help </a:t>
            </a:r>
            <a:r>
              <a:rPr lang="en-US" sz="2000" i="1" dirty="0"/>
              <a:t>relate</a:t>
            </a:r>
            <a:r>
              <a:rPr lang="en-US" sz="2000" dirty="0"/>
              <a:t> the table to other tables in the database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Why not store data in a spreadsheet??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95070-1E6E-4B8E-BF5B-AAE50CC59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26" y="5268286"/>
            <a:ext cx="2690220" cy="12401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64A4D5-3C0D-40B0-A417-507950DC7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908" y="5426278"/>
            <a:ext cx="3162882" cy="8221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22F3C4-184F-4A01-B9A6-06B48EA41C65}"/>
              </a:ext>
            </a:extLst>
          </p:cNvPr>
          <p:cNvSpPr txBox="1"/>
          <p:nvPr/>
        </p:nvSpPr>
        <p:spPr>
          <a:xfrm>
            <a:off x="1866810" y="4974833"/>
            <a:ext cx="1627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ORDERS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6FDCC-C270-4EB4-ADE6-6394A5B72890}"/>
              </a:ext>
            </a:extLst>
          </p:cNvPr>
          <p:cNvSpPr txBox="1"/>
          <p:nvPr/>
        </p:nvSpPr>
        <p:spPr>
          <a:xfrm>
            <a:off x="5781673" y="5146501"/>
            <a:ext cx="1627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CUSTOMERS TABLE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39C71C-E060-4870-8260-CBE461CDB0F5}"/>
              </a:ext>
            </a:extLst>
          </p:cNvPr>
          <p:cNvCxnSpPr>
            <a:cxnSpLocks/>
          </p:cNvCxnSpPr>
          <p:nvPr/>
        </p:nvCxnSpPr>
        <p:spPr>
          <a:xfrm>
            <a:off x="3893393" y="5449239"/>
            <a:ext cx="921888" cy="185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15E959-91C6-4BFA-84D2-720D2A9AFB9D}"/>
              </a:ext>
            </a:extLst>
          </p:cNvPr>
          <p:cNvCxnSpPr>
            <a:cxnSpLocks/>
          </p:cNvCxnSpPr>
          <p:nvPr/>
        </p:nvCxnSpPr>
        <p:spPr>
          <a:xfrm>
            <a:off x="3879671" y="5634565"/>
            <a:ext cx="921888" cy="185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029D02-F46F-4C42-A815-748A40C36CB1}"/>
              </a:ext>
            </a:extLst>
          </p:cNvPr>
          <p:cNvCxnSpPr>
            <a:cxnSpLocks/>
          </p:cNvCxnSpPr>
          <p:nvPr/>
        </p:nvCxnSpPr>
        <p:spPr>
          <a:xfrm>
            <a:off x="3864059" y="5795709"/>
            <a:ext cx="921888" cy="185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E38ED8-3DA9-4700-A57A-F6D60230C9FB}"/>
              </a:ext>
            </a:extLst>
          </p:cNvPr>
          <p:cNvCxnSpPr>
            <a:cxnSpLocks/>
          </p:cNvCxnSpPr>
          <p:nvPr/>
        </p:nvCxnSpPr>
        <p:spPr>
          <a:xfrm flipV="1">
            <a:off x="3864059" y="6156203"/>
            <a:ext cx="951222" cy="159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784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Let’s Code!</a:t>
            </a:r>
          </a:p>
        </p:txBody>
      </p:sp>
    </p:spTree>
    <p:extLst>
      <p:ext uri="{BB962C8B-B14F-4D97-AF65-F5344CB8AC3E}">
        <p14:creationId xmlns:p14="http://schemas.microsoft.com/office/powerpoint/2010/main" val="543613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511" y="1561393"/>
            <a:ext cx="3779256" cy="41254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COLUMN_1, SUM(COLUMN_2)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TABLE_NAME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 = ‘VALUE’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SUM(COLUMN_2) &gt; 10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ORDER BY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COLUMN_1;</a:t>
            </a: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C2C4EF8B-EDE7-4522-9910-A8FCCEC5E27C}"/>
              </a:ext>
            </a:extLst>
          </p:cNvPr>
          <p:cNvSpPr/>
          <p:nvPr/>
        </p:nvSpPr>
        <p:spPr>
          <a:xfrm>
            <a:off x="3574342" y="1614661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ket 6">
            <a:extLst>
              <a:ext uri="{FF2B5EF4-FFF2-40B4-BE49-F238E27FC236}">
                <a16:creationId xmlns:a16="http://schemas.microsoft.com/office/drawing/2014/main" id="{C3B3E72A-BA2F-434C-974E-1628EA24EC48}"/>
              </a:ext>
            </a:extLst>
          </p:cNvPr>
          <p:cNvSpPr/>
          <p:nvPr/>
        </p:nvSpPr>
        <p:spPr>
          <a:xfrm>
            <a:off x="3541595" y="2397914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BF31ED30-C49B-497D-8E5D-85824CB01D97}"/>
              </a:ext>
            </a:extLst>
          </p:cNvPr>
          <p:cNvSpPr/>
          <p:nvPr/>
        </p:nvSpPr>
        <p:spPr>
          <a:xfrm>
            <a:off x="3532357" y="3242233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7233C994-3419-4ADE-B7E4-92E06535E24A}"/>
              </a:ext>
            </a:extLst>
          </p:cNvPr>
          <p:cNvSpPr/>
          <p:nvPr/>
        </p:nvSpPr>
        <p:spPr>
          <a:xfrm>
            <a:off x="3537947" y="4033824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6E939050-0517-45F6-B62E-7AD3AB8E2816}"/>
              </a:ext>
            </a:extLst>
          </p:cNvPr>
          <p:cNvSpPr/>
          <p:nvPr/>
        </p:nvSpPr>
        <p:spPr>
          <a:xfrm>
            <a:off x="3532357" y="4808740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2BA460C3-76E2-49FC-9396-B306C58E83D4}"/>
              </a:ext>
            </a:extLst>
          </p:cNvPr>
          <p:cNvSpPr/>
          <p:nvPr/>
        </p:nvSpPr>
        <p:spPr>
          <a:xfrm>
            <a:off x="3541235" y="5600331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AFD74AB-6234-471F-9571-50EA7EE217B2}"/>
              </a:ext>
            </a:extLst>
          </p:cNvPr>
          <p:cNvCxnSpPr>
            <a:cxnSpLocks/>
          </p:cNvCxnSpPr>
          <p:nvPr/>
        </p:nvCxnSpPr>
        <p:spPr>
          <a:xfrm>
            <a:off x="2129684" y="1938695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DBD680-2217-4232-84CB-4F651B00CFD9}"/>
              </a:ext>
            </a:extLst>
          </p:cNvPr>
          <p:cNvCxnSpPr/>
          <p:nvPr/>
        </p:nvCxnSpPr>
        <p:spPr>
          <a:xfrm>
            <a:off x="2109877" y="2721947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C135C3-1024-4BAB-B0D3-1C2F244A7D1B}"/>
              </a:ext>
            </a:extLst>
          </p:cNvPr>
          <p:cNvCxnSpPr/>
          <p:nvPr/>
        </p:nvCxnSpPr>
        <p:spPr>
          <a:xfrm>
            <a:off x="2105455" y="3558960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08DDFA-3D46-4173-B4AE-3E98066A5165}"/>
              </a:ext>
            </a:extLst>
          </p:cNvPr>
          <p:cNvCxnSpPr/>
          <p:nvPr/>
        </p:nvCxnSpPr>
        <p:spPr>
          <a:xfrm>
            <a:off x="2105455" y="4366434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07B7BFE-0E69-45B4-A9B7-A3C492116E6F}"/>
              </a:ext>
            </a:extLst>
          </p:cNvPr>
          <p:cNvCxnSpPr/>
          <p:nvPr/>
        </p:nvCxnSpPr>
        <p:spPr>
          <a:xfrm>
            <a:off x="2103874" y="5128782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11448E-339D-4782-AAB9-72F7C56B6317}"/>
              </a:ext>
            </a:extLst>
          </p:cNvPr>
          <p:cNvCxnSpPr/>
          <p:nvPr/>
        </p:nvCxnSpPr>
        <p:spPr>
          <a:xfrm>
            <a:off x="2103874" y="5887138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3B56F93-DFC1-4283-A811-3DC62E9270F6}"/>
              </a:ext>
            </a:extLst>
          </p:cNvPr>
          <p:cNvSpPr txBox="1"/>
          <p:nvPr/>
        </p:nvSpPr>
        <p:spPr>
          <a:xfrm>
            <a:off x="588547" y="1733375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Clause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1510FE-0276-40B7-8BBE-7F34E2A8B73B}"/>
              </a:ext>
            </a:extLst>
          </p:cNvPr>
          <p:cNvSpPr txBox="1"/>
          <p:nvPr/>
        </p:nvSpPr>
        <p:spPr>
          <a:xfrm>
            <a:off x="482774" y="2532682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From Clause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9D387D-CAA2-4DB1-B26F-C9820FFFC6AB}"/>
              </a:ext>
            </a:extLst>
          </p:cNvPr>
          <p:cNvSpPr txBox="1"/>
          <p:nvPr/>
        </p:nvSpPr>
        <p:spPr>
          <a:xfrm>
            <a:off x="492121" y="3344755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Where Clause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2E3EC0-AC02-4B61-95A2-A78064B2DCE4}"/>
              </a:ext>
            </a:extLst>
          </p:cNvPr>
          <p:cNvSpPr txBox="1"/>
          <p:nvPr/>
        </p:nvSpPr>
        <p:spPr>
          <a:xfrm>
            <a:off x="286707" y="4156828"/>
            <a:ext cx="197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By Clause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9B437F-D754-4A96-8D81-383B50C04DF0}"/>
              </a:ext>
            </a:extLst>
          </p:cNvPr>
          <p:cNvSpPr txBox="1"/>
          <p:nvPr/>
        </p:nvSpPr>
        <p:spPr>
          <a:xfrm>
            <a:off x="492121" y="4947288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Having Clause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08B73B-59BD-4FEC-ADFE-D4950A497448}"/>
              </a:ext>
            </a:extLst>
          </p:cNvPr>
          <p:cNvSpPr txBox="1"/>
          <p:nvPr/>
        </p:nvSpPr>
        <p:spPr>
          <a:xfrm>
            <a:off x="286707" y="5702472"/>
            <a:ext cx="197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 By Clause</a:t>
            </a:r>
          </a:p>
        </p:txBody>
      </p:sp>
    </p:spTree>
    <p:extLst>
      <p:ext uri="{BB962C8B-B14F-4D97-AF65-F5344CB8AC3E}">
        <p14:creationId xmlns:p14="http://schemas.microsoft.com/office/powerpoint/2010/main" val="1009910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511" y="1561393"/>
            <a:ext cx="3779256" cy="41254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SELECT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COLUMN_1, SUM(COLUMN_2)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TABLE_NAME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 = ‘VALUE’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SUM(COLUMN_2) &gt; 10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ORDER BY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COLUMN_1;</a:t>
            </a: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C2C4EF8B-EDE7-4522-9910-A8FCCEC5E27C}"/>
              </a:ext>
            </a:extLst>
          </p:cNvPr>
          <p:cNvSpPr/>
          <p:nvPr/>
        </p:nvSpPr>
        <p:spPr>
          <a:xfrm>
            <a:off x="3574342" y="1614661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AFD74AB-6234-471F-9571-50EA7EE217B2}"/>
              </a:ext>
            </a:extLst>
          </p:cNvPr>
          <p:cNvCxnSpPr>
            <a:cxnSpLocks/>
          </p:cNvCxnSpPr>
          <p:nvPr/>
        </p:nvCxnSpPr>
        <p:spPr>
          <a:xfrm>
            <a:off x="2129684" y="1938695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3B56F93-DFC1-4283-A811-3DC62E9270F6}"/>
              </a:ext>
            </a:extLst>
          </p:cNvPr>
          <p:cNvSpPr txBox="1"/>
          <p:nvPr/>
        </p:nvSpPr>
        <p:spPr>
          <a:xfrm>
            <a:off x="588547" y="1733375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Select Clause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DD255-9FF7-408D-B61F-C29C366197A4}"/>
              </a:ext>
            </a:extLst>
          </p:cNvPr>
          <p:cNvSpPr txBox="1"/>
          <p:nvPr/>
        </p:nvSpPr>
        <p:spPr>
          <a:xfrm>
            <a:off x="399266" y="2839147"/>
            <a:ext cx="2974019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The </a:t>
            </a:r>
            <a:r>
              <a:rPr lang="en-US" sz="2400" b="1" dirty="0"/>
              <a:t>select clause </a:t>
            </a:r>
            <a:r>
              <a:rPr lang="en-US" sz="2400" dirty="0"/>
              <a:t>determines which columns will be included in the query’s result</a:t>
            </a:r>
          </a:p>
        </p:txBody>
      </p:sp>
    </p:spTree>
    <p:extLst>
      <p:ext uri="{BB962C8B-B14F-4D97-AF65-F5344CB8AC3E}">
        <p14:creationId xmlns:p14="http://schemas.microsoft.com/office/powerpoint/2010/main" val="1181279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511" y="1561393"/>
            <a:ext cx="3779256" cy="41254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COLUMN_1, SUM(COLUMN_2)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FROM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TABLE_NAME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 = ‘VALUE’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SUM(COLUMN_2) &gt; 10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ORDER BY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COLUMN_1;</a:t>
            </a:r>
          </a:p>
        </p:txBody>
      </p:sp>
      <p:sp>
        <p:nvSpPr>
          <p:cNvPr id="7" name="Left Bracket 6">
            <a:extLst>
              <a:ext uri="{FF2B5EF4-FFF2-40B4-BE49-F238E27FC236}">
                <a16:creationId xmlns:a16="http://schemas.microsoft.com/office/drawing/2014/main" id="{C3B3E72A-BA2F-434C-974E-1628EA24EC48}"/>
              </a:ext>
            </a:extLst>
          </p:cNvPr>
          <p:cNvSpPr/>
          <p:nvPr/>
        </p:nvSpPr>
        <p:spPr>
          <a:xfrm>
            <a:off x="3541595" y="2397914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DBD680-2217-4232-84CB-4F651B00CFD9}"/>
              </a:ext>
            </a:extLst>
          </p:cNvPr>
          <p:cNvCxnSpPr/>
          <p:nvPr/>
        </p:nvCxnSpPr>
        <p:spPr>
          <a:xfrm>
            <a:off x="2109877" y="2721947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B1510FE-0276-40B7-8BBE-7F34E2A8B73B}"/>
              </a:ext>
            </a:extLst>
          </p:cNvPr>
          <p:cNvSpPr txBox="1"/>
          <p:nvPr/>
        </p:nvSpPr>
        <p:spPr>
          <a:xfrm>
            <a:off x="482774" y="2532682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From Clause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FCAC64-E367-41A4-9C5E-6A3B05AAEF5C}"/>
              </a:ext>
            </a:extLst>
          </p:cNvPr>
          <p:cNvSpPr txBox="1"/>
          <p:nvPr/>
        </p:nvSpPr>
        <p:spPr>
          <a:xfrm>
            <a:off x="399266" y="3429000"/>
            <a:ext cx="320506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The </a:t>
            </a:r>
            <a:r>
              <a:rPr lang="en-US" sz="2400" b="1" dirty="0"/>
              <a:t>from clause </a:t>
            </a:r>
            <a:r>
              <a:rPr lang="en-US" sz="2400" dirty="0"/>
              <a:t>determines which tables to retrieve data from and how they should be joined</a:t>
            </a:r>
          </a:p>
        </p:txBody>
      </p:sp>
    </p:spTree>
    <p:extLst>
      <p:ext uri="{BB962C8B-B14F-4D97-AF65-F5344CB8AC3E}">
        <p14:creationId xmlns:p14="http://schemas.microsoft.com/office/powerpoint/2010/main" val="1093312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511" y="1561393"/>
            <a:ext cx="3779256" cy="41254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COLUMN_1, SUM(COLUMN_2)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TABLE_NAME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WHERE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COLUMN_1 = ‘VALUE’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SUM(COLUMN_2) &gt; 10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ORDER BY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COLUMN_1;</a:t>
            </a:r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BF31ED30-C49B-497D-8E5D-85824CB01D97}"/>
              </a:ext>
            </a:extLst>
          </p:cNvPr>
          <p:cNvSpPr/>
          <p:nvPr/>
        </p:nvSpPr>
        <p:spPr>
          <a:xfrm>
            <a:off x="3532357" y="3242233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C135C3-1024-4BAB-B0D3-1C2F244A7D1B}"/>
              </a:ext>
            </a:extLst>
          </p:cNvPr>
          <p:cNvCxnSpPr/>
          <p:nvPr/>
        </p:nvCxnSpPr>
        <p:spPr>
          <a:xfrm>
            <a:off x="2105455" y="3558960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39D387D-CAA2-4DB1-B26F-C9820FFFC6AB}"/>
              </a:ext>
            </a:extLst>
          </p:cNvPr>
          <p:cNvSpPr txBox="1"/>
          <p:nvPr/>
        </p:nvSpPr>
        <p:spPr>
          <a:xfrm>
            <a:off x="492121" y="3344755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Where Clause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A9DAD1-3547-45B4-9AE8-82C7C8028266}"/>
              </a:ext>
            </a:extLst>
          </p:cNvPr>
          <p:cNvSpPr txBox="1"/>
          <p:nvPr/>
        </p:nvSpPr>
        <p:spPr>
          <a:xfrm>
            <a:off x="320189" y="4207029"/>
            <a:ext cx="3291245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The </a:t>
            </a:r>
            <a:r>
              <a:rPr lang="en-US" sz="2400" b="1" dirty="0"/>
              <a:t>where clause </a:t>
            </a:r>
            <a:r>
              <a:rPr lang="en-US" sz="2400" dirty="0"/>
              <a:t>filters out unwanted rows of data based on conditions</a:t>
            </a:r>
          </a:p>
        </p:txBody>
      </p:sp>
    </p:spTree>
    <p:extLst>
      <p:ext uri="{BB962C8B-B14F-4D97-AF65-F5344CB8AC3E}">
        <p14:creationId xmlns:p14="http://schemas.microsoft.com/office/powerpoint/2010/main" val="1820863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511" y="1561393"/>
            <a:ext cx="3779256" cy="41254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COLUMN_1, SUM(COLUMN_2)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TABLE_NAME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 = ‘VALUE’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GROUP BY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SUM(COLUMN_2) &gt; 10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ORDER BY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COLUMN_1;</a:t>
            </a:r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7233C994-3419-4ADE-B7E4-92E06535E24A}"/>
              </a:ext>
            </a:extLst>
          </p:cNvPr>
          <p:cNvSpPr/>
          <p:nvPr/>
        </p:nvSpPr>
        <p:spPr>
          <a:xfrm>
            <a:off x="3537947" y="4033824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08DDFA-3D46-4173-B4AE-3E98066A5165}"/>
              </a:ext>
            </a:extLst>
          </p:cNvPr>
          <p:cNvCxnSpPr/>
          <p:nvPr/>
        </p:nvCxnSpPr>
        <p:spPr>
          <a:xfrm>
            <a:off x="2105455" y="4366434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62E3EC0-AC02-4B61-95A2-A78064B2DCE4}"/>
              </a:ext>
            </a:extLst>
          </p:cNvPr>
          <p:cNvSpPr txBox="1"/>
          <p:nvPr/>
        </p:nvSpPr>
        <p:spPr>
          <a:xfrm>
            <a:off x="286707" y="4156828"/>
            <a:ext cx="197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By Clause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11558C-6D57-4A81-9900-132DE84BDC8C}"/>
              </a:ext>
            </a:extLst>
          </p:cNvPr>
          <p:cNvSpPr txBox="1"/>
          <p:nvPr/>
        </p:nvSpPr>
        <p:spPr>
          <a:xfrm>
            <a:off x="286707" y="1902378"/>
            <a:ext cx="2974019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The </a:t>
            </a:r>
            <a:r>
              <a:rPr lang="en-US" sz="2400" b="1" dirty="0"/>
              <a:t>group by clause </a:t>
            </a:r>
            <a:r>
              <a:rPr lang="en-US" sz="2400" dirty="0"/>
              <a:t>groups rows together by common column values</a:t>
            </a:r>
          </a:p>
        </p:txBody>
      </p:sp>
    </p:spTree>
    <p:extLst>
      <p:ext uri="{BB962C8B-B14F-4D97-AF65-F5344CB8AC3E}">
        <p14:creationId xmlns:p14="http://schemas.microsoft.com/office/powerpoint/2010/main" val="3671382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511" y="1561393"/>
            <a:ext cx="3779256" cy="41254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COLUMN_1, SUM(COLUMN_2)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TABLE_NAME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 = ‘VALUE’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HAVING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SUM(COLUMN_2) &gt; 10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ORDER BY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COLUMN_1;</a:t>
            </a:r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6E939050-0517-45F6-B62E-7AD3AB8E2816}"/>
              </a:ext>
            </a:extLst>
          </p:cNvPr>
          <p:cNvSpPr/>
          <p:nvPr/>
        </p:nvSpPr>
        <p:spPr>
          <a:xfrm>
            <a:off x="3532357" y="4808740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07B7BFE-0E69-45B4-A9B7-A3C492116E6F}"/>
              </a:ext>
            </a:extLst>
          </p:cNvPr>
          <p:cNvCxnSpPr/>
          <p:nvPr/>
        </p:nvCxnSpPr>
        <p:spPr>
          <a:xfrm>
            <a:off x="2103874" y="5128782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39B437F-D754-4A96-8D81-383B50C04DF0}"/>
              </a:ext>
            </a:extLst>
          </p:cNvPr>
          <p:cNvSpPr txBox="1"/>
          <p:nvPr/>
        </p:nvSpPr>
        <p:spPr>
          <a:xfrm>
            <a:off x="492121" y="4947288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Having Clause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2031F9-AE84-4E0F-AEAB-133654445172}"/>
              </a:ext>
            </a:extLst>
          </p:cNvPr>
          <p:cNvSpPr txBox="1"/>
          <p:nvPr/>
        </p:nvSpPr>
        <p:spPr>
          <a:xfrm>
            <a:off x="324628" y="1978354"/>
            <a:ext cx="3291245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The </a:t>
            </a:r>
            <a:r>
              <a:rPr lang="en-US" sz="2400" b="1" dirty="0"/>
              <a:t>having clause </a:t>
            </a:r>
            <a:r>
              <a:rPr lang="en-US" sz="2400" dirty="0"/>
              <a:t>filters out unwanted groups based on conditions</a:t>
            </a:r>
          </a:p>
        </p:txBody>
      </p:sp>
    </p:spTree>
    <p:extLst>
      <p:ext uri="{BB962C8B-B14F-4D97-AF65-F5344CB8AC3E}">
        <p14:creationId xmlns:p14="http://schemas.microsoft.com/office/powerpoint/2010/main" val="2266765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511" y="1561393"/>
            <a:ext cx="3779256" cy="41254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COLUMN_1, SUM(COLUMN_2)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TABLE_NAME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 = ‘VALUE’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SUM(COLUMN_2) &gt; 10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ORDER BY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COLUMN_1;</a:t>
            </a:r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2BA460C3-76E2-49FC-9396-B306C58E83D4}"/>
              </a:ext>
            </a:extLst>
          </p:cNvPr>
          <p:cNvSpPr/>
          <p:nvPr/>
        </p:nvSpPr>
        <p:spPr>
          <a:xfrm>
            <a:off x="3541235" y="5600331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11448E-339D-4782-AAB9-72F7C56B6317}"/>
              </a:ext>
            </a:extLst>
          </p:cNvPr>
          <p:cNvCxnSpPr/>
          <p:nvPr/>
        </p:nvCxnSpPr>
        <p:spPr>
          <a:xfrm>
            <a:off x="2103874" y="5887138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D08B73B-59BD-4FEC-ADFE-D4950A497448}"/>
              </a:ext>
            </a:extLst>
          </p:cNvPr>
          <p:cNvSpPr txBox="1"/>
          <p:nvPr/>
        </p:nvSpPr>
        <p:spPr>
          <a:xfrm>
            <a:off x="286707" y="5702472"/>
            <a:ext cx="197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 By Clause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82348F-EBAA-451A-835F-4B8DA3AA4318}"/>
              </a:ext>
            </a:extLst>
          </p:cNvPr>
          <p:cNvSpPr txBox="1"/>
          <p:nvPr/>
        </p:nvSpPr>
        <p:spPr>
          <a:xfrm>
            <a:off x="399266" y="2795869"/>
            <a:ext cx="2974019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The </a:t>
            </a:r>
            <a:r>
              <a:rPr lang="en-US" sz="2400" b="1" dirty="0"/>
              <a:t>order by clause </a:t>
            </a:r>
            <a:r>
              <a:rPr lang="en-US" sz="2400" dirty="0"/>
              <a:t>sorts the output of the query by one or multiple columns</a:t>
            </a:r>
          </a:p>
        </p:txBody>
      </p:sp>
    </p:spTree>
    <p:extLst>
      <p:ext uri="{BB962C8B-B14F-4D97-AF65-F5344CB8AC3E}">
        <p14:creationId xmlns:p14="http://schemas.microsoft.com/office/powerpoint/2010/main" val="2963426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Syntax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1068" y="1138924"/>
            <a:ext cx="3779256" cy="41254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, SUM(COLUMN_2)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TABLE_NAME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 = ‘VALUE’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-- Filter data here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SUM(COLUMN_2) &gt; 10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ORDER BY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7C844-6DBB-4E5B-A0B8-F0802DEF6213}"/>
              </a:ext>
            </a:extLst>
          </p:cNvPr>
          <p:cNvSpPr txBox="1"/>
          <p:nvPr/>
        </p:nvSpPr>
        <p:spPr>
          <a:xfrm>
            <a:off x="258942" y="1433509"/>
            <a:ext cx="277006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Put key words on their own line and indent lines with no key words (indents are key!)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D28A88-9385-440F-84C6-6352F11FB749}"/>
              </a:ext>
            </a:extLst>
          </p:cNvPr>
          <p:cNvCxnSpPr>
            <a:cxnSpLocks/>
          </p:cNvCxnSpPr>
          <p:nvPr/>
        </p:nvCxnSpPr>
        <p:spPr>
          <a:xfrm flipV="1">
            <a:off x="3123302" y="1909208"/>
            <a:ext cx="725351" cy="493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21DBF32-1E1F-42B4-ABA1-D340F3B90203}"/>
              </a:ext>
            </a:extLst>
          </p:cNvPr>
          <p:cNvSpPr txBox="1"/>
          <p:nvPr/>
        </p:nvSpPr>
        <p:spPr>
          <a:xfrm>
            <a:off x="7243013" y="2562148"/>
            <a:ext cx="2274406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Capitalize key words!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077768-A7A5-4C04-A238-2047A16F2417}"/>
              </a:ext>
            </a:extLst>
          </p:cNvPr>
          <p:cNvCxnSpPr>
            <a:cxnSpLocks/>
          </p:cNvCxnSpPr>
          <p:nvPr/>
        </p:nvCxnSpPr>
        <p:spPr>
          <a:xfrm flipH="1" flipV="1">
            <a:off x="4512644" y="2562148"/>
            <a:ext cx="2650385" cy="335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A6115E-9B20-49CD-8D8D-E160DE7D14C2}"/>
              </a:ext>
            </a:extLst>
          </p:cNvPr>
          <p:cNvCxnSpPr>
            <a:cxnSpLocks/>
          </p:cNvCxnSpPr>
          <p:nvPr/>
        </p:nvCxnSpPr>
        <p:spPr>
          <a:xfrm flipH="1">
            <a:off x="4678532" y="2977646"/>
            <a:ext cx="2484497" cy="41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B1EB9E2-7349-45A7-9DEC-ED8B95291F21}"/>
              </a:ext>
            </a:extLst>
          </p:cNvPr>
          <p:cNvSpPr txBox="1"/>
          <p:nvPr/>
        </p:nvSpPr>
        <p:spPr>
          <a:xfrm>
            <a:off x="6954902" y="4796310"/>
            <a:ext cx="2274406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End query with a semi colon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C90A36-4FEC-4535-A103-30E2289C999C}"/>
              </a:ext>
            </a:extLst>
          </p:cNvPr>
          <p:cNvCxnSpPr>
            <a:cxnSpLocks/>
          </p:cNvCxnSpPr>
          <p:nvPr/>
        </p:nvCxnSpPr>
        <p:spPr>
          <a:xfrm flipH="1">
            <a:off x="5580139" y="5627307"/>
            <a:ext cx="1331965" cy="94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F0DA7B-F0A2-4A8D-AC00-727A3ADD6F7C}"/>
              </a:ext>
            </a:extLst>
          </p:cNvPr>
          <p:cNvCxnSpPr>
            <a:cxnSpLocks/>
          </p:cNvCxnSpPr>
          <p:nvPr/>
        </p:nvCxnSpPr>
        <p:spPr>
          <a:xfrm>
            <a:off x="3142326" y="2540956"/>
            <a:ext cx="706327" cy="197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FC48814-1864-48BC-AAD3-A8241B05A2B6}"/>
              </a:ext>
            </a:extLst>
          </p:cNvPr>
          <p:cNvSpPr txBox="1"/>
          <p:nvPr/>
        </p:nvSpPr>
        <p:spPr>
          <a:xfrm>
            <a:off x="391729" y="4224162"/>
            <a:ext cx="243137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Use double dash (--) to comment your code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18B1FC-D8C7-4874-9068-FCF38D817C30}"/>
              </a:ext>
            </a:extLst>
          </p:cNvPr>
          <p:cNvCxnSpPr>
            <a:cxnSpLocks/>
          </p:cNvCxnSpPr>
          <p:nvPr/>
        </p:nvCxnSpPr>
        <p:spPr>
          <a:xfrm flipV="1">
            <a:off x="2902494" y="4154750"/>
            <a:ext cx="1172356" cy="524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7E2C66B-CB8A-436B-BFC0-0F55BD3557D3}"/>
              </a:ext>
            </a:extLst>
          </p:cNvPr>
          <p:cNvSpPr txBox="1"/>
          <p:nvPr/>
        </p:nvSpPr>
        <p:spPr>
          <a:xfrm>
            <a:off x="7243013" y="920207"/>
            <a:ext cx="227440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Each column in select clause on its own line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48A5E9-17DF-469E-8B44-65C4BA62D201}"/>
              </a:ext>
            </a:extLst>
          </p:cNvPr>
          <p:cNvCxnSpPr>
            <a:cxnSpLocks/>
          </p:cNvCxnSpPr>
          <p:nvPr/>
        </p:nvCxnSpPr>
        <p:spPr>
          <a:xfrm flipH="1">
            <a:off x="5580139" y="1460192"/>
            <a:ext cx="1509206" cy="236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F28A0F5-8704-4813-912A-BC42AB3903C2}"/>
              </a:ext>
            </a:extLst>
          </p:cNvPr>
          <p:cNvCxnSpPr>
            <a:cxnSpLocks/>
          </p:cNvCxnSpPr>
          <p:nvPr/>
        </p:nvCxnSpPr>
        <p:spPr>
          <a:xfrm flipH="1">
            <a:off x="6170323" y="1520371"/>
            <a:ext cx="919022" cy="535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35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Select Clause</a:t>
            </a:r>
          </a:p>
        </p:txBody>
      </p:sp>
    </p:spTree>
    <p:extLst>
      <p:ext uri="{BB962C8B-B14F-4D97-AF65-F5344CB8AC3E}">
        <p14:creationId xmlns:p14="http://schemas.microsoft.com/office/powerpoint/2010/main" val="2591987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3771"/>
            <a:ext cx="7791963" cy="4664629"/>
          </a:xfrm>
        </p:spPr>
        <p:txBody>
          <a:bodyPr>
            <a:normAutofit/>
          </a:bodyPr>
          <a:lstStyle/>
          <a:p>
            <a:r>
              <a:rPr lang="en-US" sz="2200" dirty="0"/>
              <a:t>The </a:t>
            </a:r>
            <a:r>
              <a:rPr lang="en-US" sz="2200" i="1" dirty="0"/>
              <a:t>select clause </a:t>
            </a:r>
            <a:r>
              <a:rPr lang="en-US" sz="2200" dirty="0"/>
              <a:t>determines which columns will be included in the query’s result 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The </a:t>
            </a:r>
            <a:r>
              <a:rPr lang="en-US" sz="2200" i="1" dirty="0"/>
              <a:t>select clause </a:t>
            </a:r>
            <a:r>
              <a:rPr lang="en-US" sz="2200" dirty="0"/>
              <a:t>is one of two required clauses along with the </a:t>
            </a:r>
            <a:r>
              <a:rPr lang="en-US" sz="2200" i="1" dirty="0"/>
              <a:t>from clause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Select clause can include column names, strings, expressions, function calls</a:t>
            </a:r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24180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Clause -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3771"/>
            <a:ext cx="7791963" cy="4664629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200" b="1" dirty="0"/>
              <a:t>Concatenate</a:t>
            </a:r>
            <a:r>
              <a:rPr lang="en-US" sz="2200" dirty="0"/>
              <a:t>: COLUMN_A || COLUMN_B</a:t>
            </a:r>
            <a:endParaRPr lang="en-US" sz="600" dirty="0"/>
          </a:p>
          <a:p>
            <a:pPr>
              <a:lnSpc>
                <a:spcPct val="170000"/>
              </a:lnSpc>
            </a:pPr>
            <a:r>
              <a:rPr lang="en-US" sz="2200" b="1" dirty="0"/>
              <a:t>Addition</a:t>
            </a:r>
            <a:r>
              <a:rPr lang="en-US" sz="2200" dirty="0"/>
              <a:t>: COLUMN_A + COLUMN_B</a:t>
            </a:r>
            <a:endParaRPr lang="en-US" sz="2200" i="1" dirty="0"/>
          </a:p>
          <a:p>
            <a:pPr>
              <a:lnSpc>
                <a:spcPct val="170000"/>
              </a:lnSpc>
            </a:pPr>
            <a:r>
              <a:rPr lang="en-US" sz="2200" b="1" dirty="0"/>
              <a:t>Subtraction</a:t>
            </a:r>
            <a:r>
              <a:rPr lang="en-US" sz="2200" dirty="0"/>
              <a:t>: COLUMN_A - COLUMN_B</a:t>
            </a:r>
            <a:endParaRPr lang="en-US" sz="2200" i="1" dirty="0"/>
          </a:p>
          <a:p>
            <a:pPr>
              <a:lnSpc>
                <a:spcPct val="170000"/>
              </a:lnSpc>
            </a:pPr>
            <a:r>
              <a:rPr lang="en-US" sz="2200" b="1" dirty="0"/>
              <a:t>Multiplication</a:t>
            </a:r>
            <a:r>
              <a:rPr lang="en-US" sz="2200" dirty="0"/>
              <a:t>: COLUMN_A * COLUMN_B</a:t>
            </a:r>
            <a:endParaRPr lang="en-US" sz="2200" i="1" dirty="0"/>
          </a:p>
          <a:p>
            <a:pPr>
              <a:lnSpc>
                <a:spcPct val="170000"/>
              </a:lnSpc>
            </a:pPr>
            <a:r>
              <a:rPr lang="en-US" sz="2200" b="1" dirty="0"/>
              <a:t>Division</a:t>
            </a:r>
            <a:r>
              <a:rPr lang="en-US" sz="2200" dirty="0"/>
              <a:t>: COLUMN_A / COLUMN_B</a:t>
            </a:r>
            <a:endParaRPr lang="en-US" sz="2000" dirty="0"/>
          </a:p>
          <a:p>
            <a:pPr marL="0" indent="0">
              <a:lnSpc>
                <a:spcPct val="170000"/>
              </a:lnSpc>
              <a:buNone/>
            </a:pPr>
            <a:endParaRPr lang="en-US" sz="2200" dirty="0"/>
          </a:p>
          <a:p>
            <a:pPr>
              <a:lnSpc>
                <a:spcPct val="170000"/>
              </a:lnSpc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32975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Clause -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3771"/>
            <a:ext cx="7791963" cy="4664629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200" dirty="0"/>
              <a:t>SQL</a:t>
            </a:r>
            <a:r>
              <a:rPr lang="en-US" sz="2200" b="1" dirty="0"/>
              <a:t> </a:t>
            </a:r>
            <a:r>
              <a:rPr lang="en-US" sz="2200" dirty="0"/>
              <a:t>has several useful functions that can be used in the select clause and elsewhere in your query</a:t>
            </a:r>
          </a:p>
          <a:p>
            <a:pPr>
              <a:lnSpc>
                <a:spcPct val="170000"/>
              </a:lnSpc>
            </a:pPr>
            <a:r>
              <a:rPr lang="en-US" sz="2200" dirty="0"/>
              <a:t>Here is an </a:t>
            </a:r>
            <a:r>
              <a:rPr lang="en-US" sz="2200" dirty="0">
                <a:hlinkClick r:id="rId3"/>
              </a:rPr>
              <a:t>exhaustive list</a:t>
            </a:r>
            <a:endParaRPr lang="en-US" sz="2200" dirty="0"/>
          </a:p>
          <a:p>
            <a:pPr>
              <a:lnSpc>
                <a:spcPct val="170000"/>
              </a:lnSpc>
            </a:pPr>
            <a:r>
              <a:rPr lang="en-US" sz="2200" dirty="0"/>
              <a:t>Examples:</a:t>
            </a:r>
          </a:p>
          <a:p>
            <a:pPr lvl="1">
              <a:lnSpc>
                <a:spcPct val="170000"/>
              </a:lnSpc>
            </a:pPr>
            <a:r>
              <a:rPr lang="en-US" sz="1800" dirty="0"/>
              <a:t>Select absolute value:  </a:t>
            </a:r>
            <a:r>
              <a:rPr lang="en-US" sz="1800" b="1" dirty="0"/>
              <a:t>SELECT ABS(COLUMN_1)</a:t>
            </a:r>
          </a:p>
          <a:p>
            <a:pPr lvl="1">
              <a:lnSpc>
                <a:spcPct val="170000"/>
              </a:lnSpc>
            </a:pPr>
            <a:r>
              <a:rPr lang="en-US" sz="1800" dirty="0"/>
              <a:t>Round to 2 decimal places: </a:t>
            </a:r>
            <a:r>
              <a:rPr lang="en-US" sz="1800" b="1" dirty="0"/>
              <a:t>SELECT ROUND(COLUMN_1, 2)</a:t>
            </a:r>
          </a:p>
          <a:p>
            <a:pPr marL="0" indent="0">
              <a:lnSpc>
                <a:spcPct val="170000"/>
              </a:lnSpc>
              <a:buNone/>
            </a:pPr>
            <a:endParaRPr lang="en-US" sz="2200" dirty="0"/>
          </a:p>
          <a:p>
            <a:pPr>
              <a:lnSpc>
                <a:spcPct val="170000"/>
              </a:lnSpc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11053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Clause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3771"/>
            <a:ext cx="8431155" cy="4664629"/>
          </a:xfrm>
        </p:spPr>
        <p:txBody>
          <a:bodyPr>
            <a:normAutofit/>
          </a:bodyPr>
          <a:lstStyle/>
          <a:p>
            <a:r>
              <a:rPr lang="en-US" sz="2100" dirty="0"/>
              <a:t>Retrieve every column in a table:</a:t>
            </a:r>
            <a:r>
              <a:rPr lang="en-US" sz="2100" b="1" dirty="0"/>
              <a:t>  SELECT *</a:t>
            </a:r>
            <a:r>
              <a:rPr lang="en-US" sz="2100" dirty="0"/>
              <a:t> </a:t>
            </a:r>
          </a:p>
          <a:p>
            <a:pPr marL="0" indent="0">
              <a:buNone/>
            </a:pPr>
            <a:endParaRPr lang="en-US" sz="2100" dirty="0"/>
          </a:p>
          <a:p>
            <a:r>
              <a:rPr lang="en-US" sz="2100" dirty="0"/>
              <a:t>Retrieve row count of a table: </a:t>
            </a:r>
            <a:r>
              <a:rPr lang="en-US" sz="2100" b="1" dirty="0"/>
              <a:t> SELECT COUNT (*) 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r>
              <a:rPr lang="en-US" sz="2100" dirty="0"/>
              <a:t>Create aliases (or labels) for a column in the query output: 		</a:t>
            </a:r>
            <a:r>
              <a:rPr lang="en-US" sz="2100" b="1" dirty="0"/>
              <a:t> SELECT COLUMN AS First_Column 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r>
              <a:rPr lang="en-US" sz="2100" dirty="0"/>
              <a:t>Retrieve unique values of a column: </a:t>
            </a:r>
            <a:r>
              <a:rPr lang="en-US" sz="2100" b="1" dirty="0"/>
              <a:t>SELECT DISTINCT COLUMN </a:t>
            </a:r>
            <a:endParaRPr lang="en-US" sz="2600" dirty="0"/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17390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1.1</a:t>
            </a:r>
          </a:p>
        </p:txBody>
      </p:sp>
    </p:spTree>
    <p:extLst>
      <p:ext uri="{BB962C8B-B14F-4D97-AF65-F5344CB8AC3E}">
        <p14:creationId xmlns:p14="http://schemas.microsoft.com/office/powerpoint/2010/main" val="557181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From Clause</a:t>
            </a:r>
          </a:p>
        </p:txBody>
      </p:sp>
    </p:spTree>
    <p:extLst>
      <p:ext uri="{BB962C8B-B14F-4D97-AF65-F5344CB8AC3E}">
        <p14:creationId xmlns:p14="http://schemas.microsoft.com/office/powerpoint/2010/main" val="3781732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Clause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C97245-0C3D-435D-8DDD-6DF6A7053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3771"/>
            <a:ext cx="8901672" cy="4664629"/>
          </a:xfrm>
        </p:spPr>
        <p:txBody>
          <a:bodyPr>
            <a:normAutofit/>
          </a:bodyPr>
          <a:lstStyle/>
          <a:p>
            <a:r>
              <a:rPr lang="en-US" sz="2200" dirty="0"/>
              <a:t>The from clause determines which </a:t>
            </a:r>
            <a:r>
              <a:rPr lang="en-US" sz="2200" i="1" dirty="0"/>
              <a:t>tables</a:t>
            </a:r>
            <a:r>
              <a:rPr lang="en-US" sz="2200" dirty="0"/>
              <a:t> to retrieve data from and how they should be </a:t>
            </a:r>
            <a:r>
              <a:rPr lang="en-US" sz="2200" i="1" dirty="0"/>
              <a:t>joined </a:t>
            </a:r>
            <a:r>
              <a:rPr lang="en-US" sz="2200" dirty="0"/>
              <a:t>together</a:t>
            </a:r>
            <a:endParaRPr lang="en-US" sz="2200" i="1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i="1" dirty="0"/>
              <a:t>Tables</a:t>
            </a:r>
            <a:r>
              <a:rPr lang="en-US" sz="2200" dirty="0"/>
              <a:t> can mean many things! </a:t>
            </a:r>
          </a:p>
          <a:p>
            <a:pPr lvl="1"/>
            <a:r>
              <a:rPr lang="en-US" sz="2000" dirty="0"/>
              <a:t>Permanent, temporary, derived, virtual tables (more on that later)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Tables are linked together with </a:t>
            </a:r>
            <a:r>
              <a:rPr lang="en-US" sz="2200" i="1" dirty="0"/>
              <a:t>joins </a:t>
            </a:r>
            <a:r>
              <a:rPr lang="en-US" sz="2200" dirty="0"/>
              <a:t>that leverage </a:t>
            </a:r>
            <a:r>
              <a:rPr lang="en-US" sz="2200" i="1" dirty="0"/>
              <a:t>keys </a:t>
            </a:r>
            <a:r>
              <a:rPr lang="en-US" sz="2200" dirty="0"/>
              <a:t>in each table (more on this later as well!)</a:t>
            </a:r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7723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1.2</a:t>
            </a:r>
          </a:p>
        </p:txBody>
      </p:sp>
    </p:spTree>
    <p:extLst>
      <p:ext uri="{BB962C8B-B14F-4D97-AF65-F5344CB8AC3E}">
        <p14:creationId xmlns:p14="http://schemas.microsoft.com/office/powerpoint/2010/main" val="1699613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Where Clause</a:t>
            </a:r>
          </a:p>
        </p:txBody>
      </p:sp>
    </p:spTree>
    <p:extLst>
      <p:ext uri="{BB962C8B-B14F-4D97-AF65-F5344CB8AC3E}">
        <p14:creationId xmlns:p14="http://schemas.microsoft.com/office/powerpoint/2010/main" val="1672034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8054A1-14AA-4D56-A82D-A5F05B2A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3771"/>
            <a:ext cx="8839528" cy="4664629"/>
          </a:xfrm>
        </p:spPr>
        <p:txBody>
          <a:bodyPr>
            <a:normAutofit/>
          </a:bodyPr>
          <a:lstStyle/>
          <a:p>
            <a:r>
              <a:rPr lang="en-US" sz="2200" dirty="0"/>
              <a:t>The </a:t>
            </a:r>
            <a:r>
              <a:rPr lang="en-US" sz="2200" i="1" dirty="0"/>
              <a:t>where clause </a:t>
            </a:r>
            <a:r>
              <a:rPr lang="en-US" sz="2200" dirty="0"/>
              <a:t>filters out unwanted rows of data based on </a:t>
            </a:r>
            <a:r>
              <a:rPr lang="en-US" sz="2200" i="1" dirty="0"/>
              <a:t>conditions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The where clause can include as many conditions as you want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Multiple conditions can be combined using parenthesis and AND/OR logic</a:t>
            </a:r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286713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Uses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8054A1-14AA-4D56-A82D-A5F05B2A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83771"/>
            <a:ext cx="9150248" cy="4664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Filter based on </a:t>
            </a:r>
            <a:r>
              <a:rPr lang="en-US" sz="2200" b="1" dirty="0"/>
              <a:t>equality/inequality</a:t>
            </a:r>
          </a:p>
          <a:p>
            <a:pPr marL="457200" lvl="1" indent="0">
              <a:buNone/>
            </a:pPr>
            <a:endParaRPr lang="en-US" sz="2200" b="1" dirty="0"/>
          </a:p>
          <a:p>
            <a:pPr marL="457200" lvl="1" indent="0">
              <a:buNone/>
            </a:pPr>
            <a:endParaRPr lang="en-US" sz="2200" b="1" dirty="0"/>
          </a:p>
          <a:p>
            <a:pPr marL="457200" lvl="1" indent="0">
              <a:buNone/>
            </a:pPr>
            <a:endParaRPr lang="en-US" sz="2200" b="1" dirty="0"/>
          </a:p>
          <a:p>
            <a:pPr marL="457200" lvl="1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dirty="0"/>
              <a:t>Filter based on </a:t>
            </a:r>
            <a:r>
              <a:rPr lang="en-US" sz="2200" b="1" dirty="0"/>
              <a:t>ranges</a:t>
            </a:r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5F7EFD56-EC15-4207-B7C2-C82501CE8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012132"/>
              </p:ext>
            </p:extLst>
          </p:nvPr>
        </p:nvGraphicFramePr>
        <p:xfrm>
          <a:off x="911668" y="2278010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219">
                  <a:extLst>
                    <a:ext uri="{9D8B030D-6E8A-4147-A177-3AD203B41FA5}">
                      <a16:colId xmlns:a16="http://schemas.microsoft.com/office/drawing/2014/main" val="2681584580"/>
                    </a:ext>
                  </a:extLst>
                </a:gridCol>
                <a:gridCol w="5257781">
                  <a:extLst>
                    <a:ext uri="{9D8B030D-6E8A-4147-A177-3AD203B41FA5}">
                      <a16:colId xmlns:a16="http://schemas.microsoft.com/office/drawing/2014/main" val="3548134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Equal to 20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WHERE COLUMN </a:t>
                      </a:r>
                      <a:r>
                        <a:rPr lang="en-US" sz="1800" b="1" u="sng" dirty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20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31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Not equal to 20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WHERE COLUMN </a:t>
                      </a:r>
                      <a:r>
                        <a:rPr lang="en-US" sz="1800" b="1" u="sng" dirty="0"/>
                        <a:t>&lt;&gt;</a:t>
                      </a:r>
                      <a:r>
                        <a:rPr lang="en-US" sz="1800" b="1" u="none" dirty="0"/>
                        <a:t> </a:t>
                      </a:r>
                      <a:r>
                        <a:rPr lang="en-US" sz="1800" b="1" dirty="0"/>
                        <a:t>20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648273"/>
                  </a:ext>
                </a:extLst>
              </a:tr>
            </a:tbl>
          </a:graphicData>
        </a:graphic>
      </p:graphicFrame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1F20D89F-7708-4C6F-9731-66365C5BD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492799"/>
              </p:ext>
            </p:extLst>
          </p:nvPr>
        </p:nvGraphicFramePr>
        <p:xfrm>
          <a:off x="911668" y="4579990"/>
          <a:ext cx="8128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219">
                  <a:extLst>
                    <a:ext uri="{9D8B030D-6E8A-4147-A177-3AD203B41FA5}">
                      <a16:colId xmlns:a16="http://schemas.microsoft.com/office/drawing/2014/main" val="2681584580"/>
                    </a:ext>
                  </a:extLst>
                </a:gridCol>
                <a:gridCol w="5257781">
                  <a:extLst>
                    <a:ext uri="{9D8B030D-6E8A-4147-A177-3AD203B41FA5}">
                      <a16:colId xmlns:a16="http://schemas.microsoft.com/office/drawing/2014/main" val="3548134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Less than or equal to 20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WHERE COLUMN </a:t>
                      </a:r>
                      <a:r>
                        <a:rPr lang="en-US" sz="1800" b="1" u="sng" dirty="0">
                          <a:solidFill>
                            <a:schemeClr val="tx1"/>
                          </a:solidFill>
                        </a:rPr>
                        <a:t>&lt;=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20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31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Between 20 and 30 (inclusive)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WHERE COLUMN </a:t>
                      </a:r>
                      <a:r>
                        <a:rPr lang="en-US" sz="1800" b="1" u="sng" dirty="0"/>
                        <a:t>BETWEEN</a:t>
                      </a:r>
                      <a:r>
                        <a:rPr lang="en-US" sz="1800" b="1" u="none" dirty="0"/>
                        <a:t> </a:t>
                      </a:r>
                      <a:r>
                        <a:rPr lang="en-US" sz="1800" b="1" dirty="0"/>
                        <a:t>20 </a:t>
                      </a:r>
                      <a:r>
                        <a:rPr lang="en-US" sz="1800" b="1" u="sng" dirty="0"/>
                        <a:t>AND</a:t>
                      </a:r>
                      <a:r>
                        <a:rPr lang="en-US" sz="1800" b="1" dirty="0"/>
                        <a:t> 30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648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908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Uses Cont.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8054A1-14AA-4D56-A82D-A5F05B2A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83771"/>
            <a:ext cx="9150248" cy="4664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Filter based on </a:t>
            </a:r>
            <a:r>
              <a:rPr lang="en-US" sz="2200" b="1" dirty="0"/>
              <a:t>membership</a:t>
            </a:r>
          </a:p>
          <a:p>
            <a:pPr marL="457200" lvl="1" indent="0">
              <a:buNone/>
            </a:pPr>
            <a:endParaRPr lang="en-US" sz="2000" b="1" dirty="0"/>
          </a:p>
          <a:p>
            <a:pPr marL="457200" lvl="1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Filter based on </a:t>
            </a:r>
            <a:r>
              <a:rPr lang="en-US" sz="2200" b="1" dirty="0"/>
              <a:t>wildcards</a:t>
            </a:r>
          </a:p>
          <a:p>
            <a:pPr marL="457200" lvl="1" indent="0">
              <a:buNone/>
            </a:pPr>
            <a:endParaRPr lang="en-US" sz="2000" b="1" dirty="0"/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27D0085-8CDB-483B-B394-DADF72659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988587"/>
              </p:ext>
            </p:extLst>
          </p:nvPr>
        </p:nvGraphicFramePr>
        <p:xfrm>
          <a:off x="1018201" y="2342817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219">
                  <a:extLst>
                    <a:ext uri="{9D8B030D-6E8A-4147-A177-3AD203B41FA5}">
                      <a16:colId xmlns:a16="http://schemas.microsoft.com/office/drawing/2014/main" val="2681584580"/>
                    </a:ext>
                  </a:extLst>
                </a:gridCol>
                <a:gridCol w="5257781">
                  <a:extLst>
                    <a:ext uri="{9D8B030D-6E8A-4147-A177-3AD203B41FA5}">
                      <a16:colId xmlns:a16="http://schemas.microsoft.com/office/drawing/2014/main" val="3548134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Equal to A, B or C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WHERE COLUMN </a:t>
                      </a:r>
                      <a:r>
                        <a:rPr lang="en-US" sz="1800" b="1" u="sng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(‘A’, ‘B’, ‘C’)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31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Not equal to A, B, or 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WHERE COLUMN </a:t>
                      </a:r>
                      <a:r>
                        <a:rPr lang="en-US" sz="1800" b="1" u="sng" dirty="0"/>
                        <a:t>NOT IN </a:t>
                      </a:r>
                      <a:r>
                        <a:rPr lang="en-US" sz="1800" b="1" dirty="0"/>
                        <a:t>(‘A’, ‘B’, ‘C’)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648273"/>
                  </a:ext>
                </a:extLst>
              </a:tr>
            </a:tbl>
          </a:graphicData>
        </a:graphic>
      </p:graphicFrame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4BD7882B-C867-4698-8313-FC40B4B70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710428"/>
              </p:ext>
            </p:extLst>
          </p:nvPr>
        </p:nvGraphicFramePr>
        <p:xfrm>
          <a:off x="1018201" y="4574466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219">
                  <a:extLst>
                    <a:ext uri="{9D8B030D-6E8A-4147-A177-3AD203B41FA5}">
                      <a16:colId xmlns:a16="http://schemas.microsoft.com/office/drawing/2014/main" val="2681584580"/>
                    </a:ext>
                  </a:extLst>
                </a:gridCol>
                <a:gridCol w="5257781">
                  <a:extLst>
                    <a:ext uri="{9D8B030D-6E8A-4147-A177-3AD203B41FA5}">
                      <a16:colId xmlns:a16="http://schemas.microsoft.com/office/drawing/2014/main" val="3548134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Begins with S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WHERE COLUMN </a:t>
                      </a:r>
                      <a:r>
                        <a:rPr lang="en-US" sz="1800" b="1" u="sng" dirty="0">
                          <a:solidFill>
                            <a:schemeClr val="tx1"/>
                          </a:solidFill>
                        </a:rPr>
                        <a:t>LIKE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‘S%’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31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Does not end with S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WHERE COLUMN </a:t>
                      </a:r>
                      <a:r>
                        <a:rPr lang="en-US" sz="1800" b="1" u="sng" dirty="0"/>
                        <a:t>NOT LIKE</a:t>
                      </a:r>
                      <a:r>
                        <a:rPr lang="en-US" sz="1800" b="1" dirty="0"/>
                        <a:t> ‘%S’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74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Contains substring ‘</a:t>
                      </a:r>
                      <a:r>
                        <a:rPr lang="en-US" sz="1800" dirty="0" err="1"/>
                        <a:t>sas</a:t>
                      </a:r>
                      <a:r>
                        <a:rPr lang="en-US" sz="1800" dirty="0"/>
                        <a:t>’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WHERE COLUMN </a:t>
                      </a:r>
                      <a:r>
                        <a:rPr lang="en-US" sz="1800" b="1" u="sng" dirty="0">
                          <a:solidFill>
                            <a:schemeClr val="tx1"/>
                          </a:solidFill>
                        </a:rPr>
                        <a:t>LIKE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‘%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</a:rPr>
                        <a:t>sas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%’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106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Is a 3 letter string with b in the second position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WHERE COLUMN </a:t>
                      </a:r>
                      <a:r>
                        <a:rPr lang="en-US" sz="1800" b="1" u="sng" dirty="0">
                          <a:solidFill>
                            <a:schemeClr val="tx1"/>
                          </a:solidFill>
                        </a:rPr>
                        <a:t>LIKE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‘_b_’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6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066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Uses Cont.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8054A1-14AA-4D56-A82D-A5F05B2A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83771"/>
            <a:ext cx="9150248" cy="4664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Filter based on </a:t>
            </a:r>
            <a:r>
              <a:rPr lang="en-US" sz="2200" b="1" dirty="0"/>
              <a:t>NULLs</a:t>
            </a:r>
          </a:p>
          <a:p>
            <a:pPr marL="457200" lvl="1" indent="0">
              <a:buNone/>
            </a:pPr>
            <a:endParaRPr lang="en-US" sz="2000" b="1" dirty="0"/>
          </a:p>
          <a:p>
            <a:pPr marL="457200" lvl="1" indent="0">
              <a:buNone/>
            </a:pPr>
            <a:endParaRPr lang="en-US" sz="2000" b="1" dirty="0"/>
          </a:p>
          <a:p>
            <a:pPr marL="457200" lvl="1" indent="0">
              <a:buNone/>
            </a:pPr>
            <a:endParaRPr lang="en-US" sz="2000" b="1" dirty="0"/>
          </a:p>
          <a:p>
            <a:pPr marL="457200" lvl="1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200" dirty="0"/>
              <a:t>Important to remember when dealing with nulls!</a:t>
            </a:r>
            <a:endParaRPr lang="en-US" sz="2200" b="1" dirty="0"/>
          </a:p>
          <a:p>
            <a:pPr lvl="1"/>
            <a:r>
              <a:rPr lang="en-US" sz="2000" dirty="0"/>
              <a:t>A value can </a:t>
            </a:r>
            <a:r>
              <a:rPr lang="en-US" sz="2000" i="1" dirty="0"/>
              <a:t>be null </a:t>
            </a:r>
            <a:r>
              <a:rPr lang="en-US" sz="2000" dirty="0"/>
              <a:t>but it cannot </a:t>
            </a:r>
            <a:r>
              <a:rPr lang="en-US" sz="2000" i="1" dirty="0"/>
              <a:t>equal null</a:t>
            </a:r>
          </a:p>
          <a:p>
            <a:pPr lvl="1"/>
            <a:r>
              <a:rPr lang="en-US" sz="2000" dirty="0"/>
              <a:t>Two nulls are never equal to one another</a:t>
            </a:r>
          </a:p>
          <a:p>
            <a:pPr lvl="1"/>
            <a:endParaRPr lang="en-US" sz="2000" b="1" dirty="0"/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7A5C21-2065-4134-9FCA-3FC16DFC6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254960"/>
              </p:ext>
            </p:extLst>
          </p:nvPr>
        </p:nvGraphicFramePr>
        <p:xfrm>
          <a:off x="911668" y="2319933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219">
                  <a:extLst>
                    <a:ext uri="{9D8B030D-6E8A-4147-A177-3AD203B41FA5}">
                      <a16:colId xmlns:a16="http://schemas.microsoft.com/office/drawing/2014/main" val="2681584580"/>
                    </a:ext>
                  </a:extLst>
                </a:gridCol>
                <a:gridCol w="5257781">
                  <a:extLst>
                    <a:ext uri="{9D8B030D-6E8A-4147-A177-3AD203B41FA5}">
                      <a16:colId xmlns:a16="http://schemas.microsoft.com/office/drawing/2014/main" val="3548134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IS NULL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WHERE COLUMN </a:t>
                      </a:r>
                      <a:r>
                        <a:rPr lang="en-US" sz="1800" b="1" u="sng" dirty="0">
                          <a:solidFill>
                            <a:schemeClr val="tx1"/>
                          </a:solidFill>
                        </a:rPr>
                        <a:t>IS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NULL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31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IS NOT NULL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WHERE COLUMN </a:t>
                      </a:r>
                      <a:r>
                        <a:rPr lang="en-US" sz="1800" b="1" u="sng" dirty="0"/>
                        <a:t>IS NOT</a:t>
                      </a:r>
                      <a:r>
                        <a:rPr lang="en-US" sz="1800" b="1" u="none" dirty="0"/>
                        <a:t> </a:t>
                      </a:r>
                      <a:r>
                        <a:rPr lang="en-US" sz="1800" b="1" dirty="0"/>
                        <a:t>NULL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648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3132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1.3</a:t>
            </a:r>
          </a:p>
        </p:txBody>
      </p:sp>
    </p:spTree>
    <p:extLst>
      <p:ext uri="{BB962C8B-B14F-4D97-AF65-F5344CB8AC3E}">
        <p14:creationId xmlns:p14="http://schemas.microsoft.com/office/powerpoint/2010/main" val="796270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Group By Clause</a:t>
            </a:r>
          </a:p>
        </p:txBody>
      </p:sp>
    </p:spTree>
    <p:extLst>
      <p:ext uri="{BB962C8B-B14F-4D97-AF65-F5344CB8AC3E}">
        <p14:creationId xmlns:p14="http://schemas.microsoft.com/office/powerpoint/2010/main" val="20529011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 Clause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97D39-81AF-4AD2-AC49-B2E06114418A}"/>
              </a:ext>
            </a:extLst>
          </p:cNvPr>
          <p:cNvSpPr txBox="1">
            <a:spLocks/>
          </p:cNvSpPr>
          <p:nvPr/>
        </p:nvSpPr>
        <p:spPr>
          <a:xfrm>
            <a:off x="677334" y="1357896"/>
            <a:ext cx="9524904" cy="4664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In databases data is stored at the most </a:t>
            </a:r>
            <a:r>
              <a:rPr lang="en-US" sz="2200" i="1" dirty="0"/>
              <a:t>granular level </a:t>
            </a:r>
            <a:r>
              <a:rPr lang="en-US" sz="2200" dirty="0"/>
              <a:t>and so far we have only accessed data in its original and most granular and raw form</a:t>
            </a:r>
          </a:p>
          <a:p>
            <a:pPr marL="0" indent="0">
              <a:buFont typeface="Wingdings 3" charset="2"/>
              <a:buNone/>
            </a:pPr>
            <a:endParaRPr lang="en-US" sz="800" dirty="0"/>
          </a:p>
          <a:p>
            <a:r>
              <a:rPr lang="en-US" sz="2200" dirty="0"/>
              <a:t>The</a:t>
            </a:r>
            <a:r>
              <a:rPr lang="en-US" sz="2200" i="1" dirty="0"/>
              <a:t> group by clause </a:t>
            </a:r>
            <a:r>
              <a:rPr lang="en-US" sz="2200" dirty="0"/>
              <a:t>allows us to manipulate our data via grouping or aggregation across common column values</a:t>
            </a:r>
          </a:p>
          <a:p>
            <a:pPr marL="0" indent="0">
              <a:buFont typeface="Wingdings 3" charset="2"/>
              <a:buNone/>
            </a:pPr>
            <a:endParaRPr lang="en-US" sz="800" dirty="0"/>
          </a:p>
          <a:p>
            <a:r>
              <a:rPr lang="en-US" sz="2200" dirty="0"/>
              <a:t>The group by clause is typically used with an </a:t>
            </a:r>
            <a:r>
              <a:rPr lang="en-US" sz="2200" i="1" dirty="0"/>
              <a:t>aggregate function </a:t>
            </a:r>
            <a:r>
              <a:rPr lang="en-US" sz="2200" dirty="0"/>
              <a:t>but does not need to be</a:t>
            </a:r>
          </a:p>
          <a:p>
            <a:pPr lvl="1"/>
            <a:r>
              <a:rPr lang="en-US" sz="2000" dirty="0"/>
              <a:t>Available Aggregate Functions: MAX(), MIN(), AVG(), SUM(), COUNT()</a:t>
            </a:r>
          </a:p>
          <a:p>
            <a:pPr lvl="1"/>
            <a:r>
              <a:rPr lang="en-US" sz="2000" dirty="0"/>
              <a:t>An aggregate function used without a </a:t>
            </a:r>
            <a:r>
              <a:rPr lang="en-US" sz="2000" i="1" dirty="0"/>
              <a:t>group by </a:t>
            </a:r>
            <a:r>
              <a:rPr lang="en-US" sz="2000" dirty="0"/>
              <a:t>aggregates entire dataset</a:t>
            </a:r>
          </a:p>
          <a:p>
            <a:pPr marL="0" indent="0">
              <a:buFont typeface="Wingdings 3" charset="2"/>
              <a:buNone/>
            </a:pP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2F3B8-A369-4101-954C-0E02E79E0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190" y="5427213"/>
            <a:ext cx="27051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325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 by Multiple Columns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97D39-81AF-4AD2-AC49-B2E06114418A}"/>
              </a:ext>
            </a:extLst>
          </p:cNvPr>
          <p:cNvSpPr txBox="1">
            <a:spLocks/>
          </p:cNvSpPr>
          <p:nvPr/>
        </p:nvSpPr>
        <p:spPr>
          <a:xfrm>
            <a:off x="677334" y="1583771"/>
            <a:ext cx="9221268" cy="4664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Group by statements with multiple columns are necessary when aggregating across more than one column</a:t>
            </a:r>
          </a:p>
          <a:p>
            <a:pPr lvl="1"/>
            <a:r>
              <a:rPr lang="en-US" sz="2000" dirty="0"/>
              <a:t>Every column in select clause that is being aggregated across needs to be included in group by statement! </a:t>
            </a:r>
          </a:p>
          <a:p>
            <a:pPr marL="0" indent="0">
              <a:buFont typeface="Wingdings 3" charset="2"/>
              <a:buNone/>
            </a:pPr>
            <a:endParaRPr lang="en-US" sz="2200" dirty="0"/>
          </a:p>
          <a:p>
            <a:pPr marL="0" indent="0">
              <a:buFont typeface="Wingdings 3" charset="2"/>
              <a:buNone/>
            </a:pPr>
            <a:endParaRPr lang="en-US" sz="400" dirty="0"/>
          </a:p>
          <a:p>
            <a:pPr marL="0" indent="0">
              <a:buFont typeface="Wingdings 3" charset="2"/>
              <a:buNone/>
            </a:pPr>
            <a:endParaRPr lang="en-US" sz="400" dirty="0"/>
          </a:p>
          <a:p>
            <a:pPr marL="0" indent="0">
              <a:buFont typeface="Wingdings 3" charset="2"/>
              <a:buNone/>
            </a:pPr>
            <a:endParaRPr lang="en-US" sz="400" dirty="0"/>
          </a:p>
          <a:p>
            <a:r>
              <a:rPr lang="en-US" sz="2200" i="1" dirty="0"/>
              <a:t>Numeric placeholders </a:t>
            </a:r>
            <a:r>
              <a:rPr lang="en-US" sz="2200" dirty="0"/>
              <a:t>are excellent when grouping by more than 1 columns…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Font typeface="Wingdings 3" charset="2"/>
              <a:buNone/>
            </a:pP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A8B2DC-5E9A-43A9-88C2-6669A465C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99" y="5020484"/>
            <a:ext cx="3036250" cy="8760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A4AEDA-62AA-4D2C-BF70-484DCE698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431" y="5007800"/>
            <a:ext cx="3310716" cy="8887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05FC2C-7FE0-423A-AE53-DF9EF21EE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040" y="3170214"/>
            <a:ext cx="3036250" cy="876099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A7B13B71-897D-4E36-9375-E4C90C1974C0}"/>
              </a:ext>
            </a:extLst>
          </p:cNvPr>
          <p:cNvSpPr/>
          <p:nvPr/>
        </p:nvSpPr>
        <p:spPr>
          <a:xfrm>
            <a:off x="4101483" y="5415379"/>
            <a:ext cx="701336" cy="2929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785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1.4</a:t>
            </a:r>
          </a:p>
        </p:txBody>
      </p:sp>
    </p:spTree>
    <p:extLst>
      <p:ext uri="{BB962C8B-B14F-4D97-AF65-F5344CB8AC3E}">
        <p14:creationId xmlns:p14="http://schemas.microsoft.com/office/powerpoint/2010/main" val="22890158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Having Clause</a:t>
            </a:r>
          </a:p>
        </p:txBody>
      </p:sp>
    </p:spTree>
    <p:extLst>
      <p:ext uri="{BB962C8B-B14F-4D97-AF65-F5344CB8AC3E}">
        <p14:creationId xmlns:p14="http://schemas.microsoft.com/office/powerpoint/2010/main" val="747769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Having Clause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931974-69F4-4E8E-ADC6-C396C0458409}"/>
              </a:ext>
            </a:extLst>
          </p:cNvPr>
          <p:cNvSpPr txBox="1">
            <a:spLocks/>
          </p:cNvSpPr>
          <p:nvPr/>
        </p:nvSpPr>
        <p:spPr>
          <a:xfrm>
            <a:off x="677334" y="1583771"/>
            <a:ext cx="9221268" cy="4664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The </a:t>
            </a:r>
            <a:r>
              <a:rPr lang="en-US" sz="2200" i="1" dirty="0"/>
              <a:t>having clause </a:t>
            </a:r>
            <a:r>
              <a:rPr lang="en-US" sz="2200" dirty="0"/>
              <a:t>filters out unwanted </a:t>
            </a:r>
            <a:r>
              <a:rPr lang="en-US" sz="2200" u="sng" dirty="0"/>
              <a:t>groups</a:t>
            </a:r>
            <a:r>
              <a:rPr lang="en-US" sz="2200" dirty="0"/>
              <a:t> based on conditions</a:t>
            </a:r>
          </a:p>
          <a:p>
            <a:pPr marL="0" indent="0">
              <a:buFont typeface="Wingdings 3" charset="2"/>
              <a:buNone/>
            </a:pPr>
            <a:endParaRPr lang="en-US" sz="2200" dirty="0"/>
          </a:p>
          <a:p>
            <a:r>
              <a:rPr lang="en-US" sz="2200" dirty="0"/>
              <a:t>While the </a:t>
            </a:r>
            <a:r>
              <a:rPr lang="en-US" sz="2200" i="1" dirty="0"/>
              <a:t>where clause </a:t>
            </a:r>
            <a:r>
              <a:rPr lang="en-US" sz="2200" dirty="0"/>
              <a:t>filters out unwanted rows the </a:t>
            </a:r>
            <a:r>
              <a:rPr lang="en-US" sz="2200" i="1" dirty="0"/>
              <a:t>having clause </a:t>
            </a:r>
            <a:r>
              <a:rPr lang="en-US" sz="2200" dirty="0"/>
              <a:t>filters out unwanted groups after aggregation</a:t>
            </a:r>
          </a:p>
          <a:p>
            <a:pPr lvl="1"/>
            <a:r>
              <a:rPr lang="en-US" sz="2000" dirty="0"/>
              <a:t>Important distinction!</a:t>
            </a:r>
          </a:p>
          <a:p>
            <a:pPr marL="0" indent="0">
              <a:buFont typeface="Wingdings 3" charset="2"/>
              <a:buNone/>
            </a:pPr>
            <a:endParaRPr lang="en-US" sz="2200" dirty="0"/>
          </a:p>
          <a:p>
            <a:r>
              <a:rPr lang="en-US" sz="2200" dirty="0"/>
              <a:t>Queries can include both a </a:t>
            </a:r>
            <a:r>
              <a:rPr lang="en-US" sz="2200" i="1" dirty="0"/>
              <a:t>where clause </a:t>
            </a:r>
            <a:r>
              <a:rPr lang="en-US" sz="2200" dirty="0"/>
              <a:t>and a </a:t>
            </a:r>
            <a:r>
              <a:rPr lang="en-US" sz="2200" i="1" dirty="0"/>
              <a:t>having clause </a:t>
            </a:r>
          </a:p>
          <a:p>
            <a:pPr marL="0" indent="0">
              <a:buFont typeface="Wingdings 3" charset="2"/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062419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1.5</a:t>
            </a:r>
          </a:p>
        </p:txBody>
      </p:sp>
    </p:spTree>
    <p:extLst>
      <p:ext uri="{BB962C8B-B14F-4D97-AF65-F5344CB8AC3E}">
        <p14:creationId xmlns:p14="http://schemas.microsoft.com/office/powerpoint/2010/main" val="10966564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Pop Quiz!</a:t>
            </a:r>
          </a:p>
        </p:txBody>
      </p:sp>
    </p:spTree>
    <p:extLst>
      <p:ext uri="{BB962C8B-B14F-4D97-AF65-F5344CB8AC3E}">
        <p14:creationId xmlns:p14="http://schemas.microsoft.com/office/powerpoint/2010/main" val="2175038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query runs successfully?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5394ED-F572-4138-BFDD-1BB6BC3E9D8B}"/>
              </a:ext>
            </a:extLst>
          </p:cNvPr>
          <p:cNvSpPr txBox="1">
            <a:spLocks/>
          </p:cNvSpPr>
          <p:nvPr/>
        </p:nvSpPr>
        <p:spPr>
          <a:xfrm>
            <a:off x="986001" y="2071503"/>
            <a:ext cx="887099" cy="7029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500" dirty="0"/>
              <a:t>A)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DAAF676-92C3-4107-9D8B-788AA36277D5}"/>
              </a:ext>
            </a:extLst>
          </p:cNvPr>
          <p:cNvSpPr txBox="1">
            <a:spLocks/>
          </p:cNvSpPr>
          <p:nvPr/>
        </p:nvSpPr>
        <p:spPr>
          <a:xfrm>
            <a:off x="5013259" y="2071503"/>
            <a:ext cx="887099" cy="7029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500" dirty="0"/>
              <a:t>B)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AA817B-949A-4878-8190-0AAB36B22F11}"/>
              </a:ext>
            </a:extLst>
          </p:cNvPr>
          <p:cNvSpPr txBox="1">
            <a:spLocks/>
          </p:cNvSpPr>
          <p:nvPr/>
        </p:nvSpPr>
        <p:spPr>
          <a:xfrm>
            <a:off x="986001" y="4786497"/>
            <a:ext cx="887099" cy="7029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500" dirty="0"/>
              <a:t>C)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584AF2-739F-4163-9E37-EBD525E5FB87}"/>
              </a:ext>
            </a:extLst>
          </p:cNvPr>
          <p:cNvSpPr txBox="1">
            <a:spLocks/>
          </p:cNvSpPr>
          <p:nvPr/>
        </p:nvSpPr>
        <p:spPr>
          <a:xfrm>
            <a:off x="5050582" y="4786497"/>
            <a:ext cx="887099" cy="7029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500" dirty="0"/>
              <a:t>D)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0F54E3-323E-4D4E-849D-40DBBFD77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808" y="1980338"/>
            <a:ext cx="2876550" cy="1962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DD7EF9-1049-4170-9545-5A28FBB16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550" y="1948156"/>
            <a:ext cx="2800350" cy="15716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22BD83-3EB7-412A-B95C-DB6181799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400" y="4622307"/>
            <a:ext cx="2914650" cy="1981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5907A63-7E40-49C2-A8D0-E17CCBACDE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6808" y="4675015"/>
            <a:ext cx="295275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821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query runs successfully?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5394ED-F572-4138-BFDD-1BB6BC3E9D8B}"/>
              </a:ext>
            </a:extLst>
          </p:cNvPr>
          <p:cNvSpPr txBox="1">
            <a:spLocks/>
          </p:cNvSpPr>
          <p:nvPr/>
        </p:nvSpPr>
        <p:spPr>
          <a:xfrm>
            <a:off x="986001" y="2071503"/>
            <a:ext cx="887099" cy="7029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500" dirty="0"/>
              <a:t>A)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DAAF676-92C3-4107-9D8B-788AA36277D5}"/>
              </a:ext>
            </a:extLst>
          </p:cNvPr>
          <p:cNvSpPr txBox="1">
            <a:spLocks/>
          </p:cNvSpPr>
          <p:nvPr/>
        </p:nvSpPr>
        <p:spPr>
          <a:xfrm>
            <a:off x="5013259" y="2071503"/>
            <a:ext cx="887099" cy="7029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500" dirty="0"/>
              <a:t>B)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AA817B-949A-4878-8190-0AAB36B22F11}"/>
              </a:ext>
            </a:extLst>
          </p:cNvPr>
          <p:cNvSpPr txBox="1">
            <a:spLocks/>
          </p:cNvSpPr>
          <p:nvPr/>
        </p:nvSpPr>
        <p:spPr>
          <a:xfrm>
            <a:off x="986001" y="4786497"/>
            <a:ext cx="887099" cy="7029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500" dirty="0"/>
              <a:t>C)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584AF2-739F-4163-9E37-EBD525E5FB87}"/>
              </a:ext>
            </a:extLst>
          </p:cNvPr>
          <p:cNvSpPr txBox="1">
            <a:spLocks/>
          </p:cNvSpPr>
          <p:nvPr/>
        </p:nvSpPr>
        <p:spPr>
          <a:xfrm>
            <a:off x="5050582" y="4786497"/>
            <a:ext cx="887099" cy="7029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500" dirty="0"/>
              <a:t>D)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0F54E3-323E-4D4E-849D-40DBBFD77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808" y="1980338"/>
            <a:ext cx="2876550" cy="1962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DD7EF9-1049-4170-9545-5A28FBB16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550" y="1948156"/>
            <a:ext cx="2800350" cy="15716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22BD83-3EB7-412A-B95C-DB6181799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400" y="4622307"/>
            <a:ext cx="2914650" cy="1981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5907A63-7E40-49C2-A8D0-E17CCBACDE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6808" y="4675015"/>
            <a:ext cx="2952750" cy="16287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7BCE3E4-EC4C-436C-A2F1-44F03E507966}"/>
              </a:ext>
            </a:extLst>
          </p:cNvPr>
          <p:cNvSpPr/>
          <p:nvPr/>
        </p:nvSpPr>
        <p:spPr>
          <a:xfrm>
            <a:off x="4892178" y="1964192"/>
            <a:ext cx="3517379" cy="2007917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586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Order By Clause</a:t>
            </a:r>
          </a:p>
        </p:txBody>
      </p:sp>
    </p:spTree>
    <p:extLst>
      <p:ext uri="{BB962C8B-B14F-4D97-AF65-F5344CB8AC3E}">
        <p14:creationId xmlns:p14="http://schemas.microsoft.com/office/powerpoint/2010/main" val="8964148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By Clause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13A765-53D3-4107-B6F3-D1F8AEAB4825}"/>
              </a:ext>
            </a:extLst>
          </p:cNvPr>
          <p:cNvSpPr txBox="1">
            <a:spLocks/>
          </p:cNvSpPr>
          <p:nvPr/>
        </p:nvSpPr>
        <p:spPr>
          <a:xfrm>
            <a:off x="677334" y="1583771"/>
            <a:ext cx="9221268" cy="4664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The </a:t>
            </a:r>
            <a:r>
              <a:rPr lang="en-US" sz="2200" i="1" dirty="0"/>
              <a:t>order by clause </a:t>
            </a:r>
            <a:r>
              <a:rPr lang="en-US" sz="2200" dirty="0"/>
              <a:t>sorts the output of the query by one or multiple columns</a:t>
            </a:r>
          </a:p>
          <a:p>
            <a:pPr marL="0" indent="0">
              <a:buFont typeface="Wingdings 3" charset="2"/>
              <a:buNone/>
            </a:pPr>
            <a:endParaRPr lang="en-US" sz="2200" dirty="0"/>
          </a:p>
          <a:p>
            <a:r>
              <a:rPr lang="en-US" sz="2200" dirty="0"/>
              <a:t>By default, the </a:t>
            </a:r>
            <a:r>
              <a:rPr lang="en-US" sz="2200" i="1" dirty="0"/>
              <a:t>order by clause </a:t>
            </a:r>
            <a:r>
              <a:rPr lang="en-US" sz="2200" dirty="0"/>
              <a:t>sorts in ascending order but can sort in descending order as well </a:t>
            </a:r>
          </a:p>
          <a:p>
            <a:pPr marL="0" indent="0">
              <a:buFont typeface="Wingdings 3" charset="2"/>
              <a:buNone/>
            </a:pPr>
            <a:endParaRPr lang="en-US" sz="2200" dirty="0"/>
          </a:p>
          <a:p>
            <a:r>
              <a:rPr lang="en-US" sz="2200" dirty="0"/>
              <a:t>Numeric placeholders also work great here!</a:t>
            </a:r>
            <a:endParaRPr lang="en-US" sz="2200" i="1" dirty="0"/>
          </a:p>
          <a:p>
            <a:pPr marL="0" indent="0">
              <a:buFont typeface="Wingdings 3" charset="2"/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079512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1.6</a:t>
            </a:r>
          </a:p>
        </p:txBody>
      </p:sp>
    </p:spTree>
    <p:extLst>
      <p:ext uri="{BB962C8B-B14F-4D97-AF65-F5344CB8AC3E}">
        <p14:creationId xmlns:p14="http://schemas.microsoft.com/office/powerpoint/2010/main" val="17226362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Limit Clause (Bonus!)</a:t>
            </a:r>
          </a:p>
        </p:txBody>
      </p:sp>
    </p:spTree>
    <p:extLst>
      <p:ext uri="{BB962C8B-B14F-4D97-AF65-F5344CB8AC3E}">
        <p14:creationId xmlns:p14="http://schemas.microsoft.com/office/powerpoint/2010/main" val="20362961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 Clause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13A765-53D3-4107-B6F3-D1F8AEAB4825}"/>
              </a:ext>
            </a:extLst>
          </p:cNvPr>
          <p:cNvSpPr txBox="1">
            <a:spLocks/>
          </p:cNvSpPr>
          <p:nvPr/>
        </p:nvSpPr>
        <p:spPr>
          <a:xfrm>
            <a:off x="677334" y="1583771"/>
            <a:ext cx="9221268" cy="4664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The </a:t>
            </a:r>
            <a:r>
              <a:rPr lang="en-US" sz="2200" i="1" dirty="0"/>
              <a:t>limit clause </a:t>
            </a:r>
            <a:r>
              <a:rPr lang="en-US" sz="2200" dirty="0"/>
              <a:t>limits your output to a subset of rows specified in the clause</a:t>
            </a:r>
          </a:p>
          <a:p>
            <a:pPr marL="0" indent="0">
              <a:buFont typeface="Wingdings 3" charset="2"/>
              <a:buNone/>
            </a:pPr>
            <a:endParaRPr lang="en-US" sz="2200" dirty="0"/>
          </a:p>
          <a:p>
            <a:r>
              <a:rPr lang="en-US" sz="2200" dirty="0"/>
              <a:t>The </a:t>
            </a:r>
            <a:r>
              <a:rPr lang="en-US" sz="2200" i="1" dirty="0"/>
              <a:t>limit clause </a:t>
            </a:r>
            <a:r>
              <a:rPr lang="en-US" sz="2200" dirty="0"/>
              <a:t>is located at the very end of a query</a:t>
            </a:r>
          </a:p>
          <a:p>
            <a:pPr marL="0" indent="0">
              <a:buFont typeface="Wingdings 3" charset="2"/>
              <a:buNone/>
            </a:pPr>
            <a:endParaRPr lang="en-US" sz="2200" dirty="0"/>
          </a:p>
          <a:p>
            <a:pPr marL="0" indent="0">
              <a:buFont typeface="Wingdings 3" charset="2"/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417067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1.7</a:t>
            </a:r>
          </a:p>
        </p:txBody>
      </p:sp>
    </p:spTree>
    <p:extLst>
      <p:ext uri="{BB962C8B-B14F-4D97-AF65-F5344CB8AC3E}">
        <p14:creationId xmlns:p14="http://schemas.microsoft.com/office/powerpoint/2010/main" val="31256467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8284493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8054A1-14AA-4D56-A82D-A5F05B2A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4917"/>
            <a:ext cx="8839528" cy="512241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SQL stands for </a:t>
            </a:r>
            <a:r>
              <a:rPr lang="en-US" b="1" dirty="0"/>
              <a:t>Structured Querying Language </a:t>
            </a:r>
            <a:r>
              <a:rPr lang="en-US" dirty="0"/>
              <a:t>and is used to communicate with databases</a:t>
            </a:r>
          </a:p>
          <a:p>
            <a:pPr>
              <a:lnSpc>
                <a:spcPct val="110000"/>
              </a:lnSpc>
            </a:pPr>
            <a:r>
              <a:rPr lang="en-US" dirty="0"/>
              <a:t>SQL queries can be made up of up to </a:t>
            </a:r>
            <a:r>
              <a:rPr lang="en-US" b="1" dirty="0"/>
              <a:t>6 clauses </a:t>
            </a:r>
            <a:r>
              <a:rPr lang="en-US" dirty="0"/>
              <a:t>but only the select clause and from clause are required</a:t>
            </a:r>
          </a:p>
          <a:p>
            <a:pPr>
              <a:lnSpc>
                <a:spcPct val="110000"/>
              </a:lnSpc>
            </a:pPr>
            <a:r>
              <a:rPr lang="en-US" dirty="0"/>
              <a:t>The </a:t>
            </a:r>
            <a:r>
              <a:rPr lang="en-US" b="1" dirty="0"/>
              <a:t>select clause </a:t>
            </a:r>
            <a:r>
              <a:rPr lang="en-US" dirty="0"/>
              <a:t>determines which columns will be included in the query’s result</a:t>
            </a:r>
          </a:p>
          <a:p>
            <a:pPr>
              <a:lnSpc>
                <a:spcPct val="110000"/>
              </a:lnSpc>
            </a:pPr>
            <a:r>
              <a:rPr lang="en-US" dirty="0"/>
              <a:t>The </a:t>
            </a:r>
            <a:r>
              <a:rPr lang="en-US" b="1" dirty="0"/>
              <a:t>from clause </a:t>
            </a:r>
            <a:r>
              <a:rPr lang="en-US" dirty="0"/>
              <a:t>determines which </a:t>
            </a:r>
            <a:r>
              <a:rPr lang="en-US" i="1" dirty="0"/>
              <a:t>tables</a:t>
            </a:r>
            <a:r>
              <a:rPr lang="en-US" dirty="0"/>
              <a:t> to retrieve data from and how they should be </a:t>
            </a:r>
            <a:r>
              <a:rPr lang="en-US" i="1" dirty="0"/>
              <a:t>joined </a:t>
            </a:r>
            <a:r>
              <a:rPr lang="en-US" dirty="0"/>
              <a:t>together</a:t>
            </a:r>
          </a:p>
          <a:p>
            <a:pPr>
              <a:lnSpc>
                <a:spcPct val="110000"/>
              </a:lnSpc>
            </a:pPr>
            <a:r>
              <a:rPr lang="en-US" dirty="0"/>
              <a:t>The </a:t>
            </a:r>
            <a:r>
              <a:rPr lang="en-US" b="1" dirty="0"/>
              <a:t>where clause </a:t>
            </a:r>
            <a:r>
              <a:rPr lang="en-US" dirty="0"/>
              <a:t>filters out unwanted rows of data based on conditions</a:t>
            </a:r>
          </a:p>
          <a:p>
            <a:pPr>
              <a:lnSpc>
                <a:spcPct val="110000"/>
              </a:lnSpc>
            </a:pPr>
            <a:r>
              <a:rPr lang="en-US" dirty="0"/>
              <a:t>The</a:t>
            </a:r>
            <a:r>
              <a:rPr lang="en-US" i="1" dirty="0"/>
              <a:t> </a:t>
            </a:r>
            <a:r>
              <a:rPr lang="en-US" b="1" dirty="0"/>
              <a:t>group by clause </a:t>
            </a:r>
            <a:r>
              <a:rPr lang="en-US" dirty="0"/>
              <a:t>allows us to manipulate our data via grouping or aggregation across common column values</a:t>
            </a:r>
          </a:p>
          <a:p>
            <a:pPr>
              <a:lnSpc>
                <a:spcPct val="110000"/>
              </a:lnSpc>
            </a:pPr>
            <a:r>
              <a:rPr lang="en-US" dirty="0"/>
              <a:t>The </a:t>
            </a:r>
            <a:r>
              <a:rPr lang="en-US" b="1" dirty="0"/>
              <a:t>having clause </a:t>
            </a:r>
            <a:r>
              <a:rPr lang="en-US" dirty="0"/>
              <a:t>filters out unwanted </a:t>
            </a:r>
            <a:r>
              <a:rPr lang="en-US" u="sng" dirty="0"/>
              <a:t>groups</a:t>
            </a:r>
            <a:r>
              <a:rPr lang="en-US" dirty="0"/>
              <a:t> based on conditions</a:t>
            </a:r>
          </a:p>
          <a:p>
            <a:pPr>
              <a:lnSpc>
                <a:spcPct val="110000"/>
              </a:lnSpc>
            </a:pPr>
            <a:r>
              <a:rPr lang="en-US" dirty="0"/>
              <a:t>The </a:t>
            </a:r>
            <a:r>
              <a:rPr lang="en-US" b="1" dirty="0"/>
              <a:t>order by clause </a:t>
            </a:r>
            <a:r>
              <a:rPr lang="en-US" dirty="0"/>
              <a:t>sorts the output of the query by one or multiple columns</a:t>
            </a:r>
          </a:p>
        </p:txBody>
      </p:sp>
    </p:spTree>
    <p:extLst>
      <p:ext uri="{BB962C8B-B14F-4D97-AF65-F5344CB8AC3E}">
        <p14:creationId xmlns:p14="http://schemas.microsoft.com/office/powerpoint/2010/main" val="27973192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511" y="1561393"/>
            <a:ext cx="3779256" cy="41254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COLUMN_1, SUM(COLUMN_2)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TABLE_NAME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 = ‘VALUE’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SUM(COLUMN_2) &gt; 10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ORDER BY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COLUMN_1;</a:t>
            </a: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C2C4EF8B-EDE7-4522-9910-A8FCCEC5E27C}"/>
              </a:ext>
            </a:extLst>
          </p:cNvPr>
          <p:cNvSpPr/>
          <p:nvPr/>
        </p:nvSpPr>
        <p:spPr>
          <a:xfrm>
            <a:off x="3574342" y="1614661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ket 6">
            <a:extLst>
              <a:ext uri="{FF2B5EF4-FFF2-40B4-BE49-F238E27FC236}">
                <a16:creationId xmlns:a16="http://schemas.microsoft.com/office/drawing/2014/main" id="{C3B3E72A-BA2F-434C-974E-1628EA24EC48}"/>
              </a:ext>
            </a:extLst>
          </p:cNvPr>
          <p:cNvSpPr/>
          <p:nvPr/>
        </p:nvSpPr>
        <p:spPr>
          <a:xfrm>
            <a:off x="3541595" y="2397914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BF31ED30-C49B-497D-8E5D-85824CB01D97}"/>
              </a:ext>
            </a:extLst>
          </p:cNvPr>
          <p:cNvSpPr/>
          <p:nvPr/>
        </p:nvSpPr>
        <p:spPr>
          <a:xfrm>
            <a:off x="3532357" y="3242233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7233C994-3419-4ADE-B7E4-92E06535E24A}"/>
              </a:ext>
            </a:extLst>
          </p:cNvPr>
          <p:cNvSpPr/>
          <p:nvPr/>
        </p:nvSpPr>
        <p:spPr>
          <a:xfrm>
            <a:off x="3537947" y="4033824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6E939050-0517-45F6-B62E-7AD3AB8E2816}"/>
              </a:ext>
            </a:extLst>
          </p:cNvPr>
          <p:cNvSpPr/>
          <p:nvPr/>
        </p:nvSpPr>
        <p:spPr>
          <a:xfrm>
            <a:off x="3532357" y="4808740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2BA460C3-76E2-49FC-9396-B306C58E83D4}"/>
              </a:ext>
            </a:extLst>
          </p:cNvPr>
          <p:cNvSpPr/>
          <p:nvPr/>
        </p:nvSpPr>
        <p:spPr>
          <a:xfrm>
            <a:off x="3541235" y="5600331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AFD74AB-6234-471F-9571-50EA7EE217B2}"/>
              </a:ext>
            </a:extLst>
          </p:cNvPr>
          <p:cNvCxnSpPr>
            <a:cxnSpLocks/>
          </p:cNvCxnSpPr>
          <p:nvPr/>
        </p:nvCxnSpPr>
        <p:spPr>
          <a:xfrm>
            <a:off x="2129684" y="1938695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DBD680-2217-4232-84CB-4F651B00CFD9}"/>
              </a:ext>
            </a:extLst>
          </p:cNvPr>
          <p:cNvCxnSpPr/>
          <p:nvPr/>
        </p:nvCxnSpPr>
        <p:spPr>
          <a:xfrm>
            <a:off x="2109877" y="2721947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C135C3-1024-4BAB-B0D3-1C2F244A7D1B}"/>
              </a:ext>
            </a:extLst>
          </p:cNvPr>
          <p:cNvCxnSpPr/>
          <p:nvPr/>
        </p:nvCxnSpPr>
        <p:spPr>
          <a:xfrm>
            <a:off x="2105455" y="3558960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08DDFA-3D46-4173-B4AE-3E98066A5165}"/>
              </a:ext>
            </a:extLst>
          </p:cNvPr>
          <p:cNvCxnSpPr/>
          <p:nvPr/>
        </p:nvCxnSpPr>
        <p:spPr>
          <a:xfrm>
            <a:off x="2105455" y="4366434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07B7BFE-0E69-45B4-A9B7-A3C492116E6F}"/>
              </a:ext>
            </a:extLst>
          </p:cNvPr>
          <p:cNvCxnSpPr/>
          <p:nvPr/>
        </p:nvCxnSpPr>
        <p:spPr>
          <a:xfrm>
            <a:off x="2103874" y="5128782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11448E-339D-4782-AAB9-72F7C56B6317}"/>
              </a:ext>
            </a:extLst>
          </p:cNvPr>
          <p:cNvCxnSpPr/>
          <p:nvPr/>
        </p:nvCxnSpPr>
        <p:spPr>
          <a:xfrm>
            <a:off x="2103874" y="5887138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3B56F93-DFC1-4283-A811-3DC62E9270F6}"/>
              </a:ext>
            </a:extLst>
          </p:cNvPr>
          <p:cNvSpPr txBox="1"/>
          <p:nvPr/>
        </p:nvSpPr>
        <p:spPr>
          <a:xfrm>
            <a:off x="588547" y="1733375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Clause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1510FE-0276-40B7-8BBE-7F34E2A8B73B}"/>
              </a:ext>
            </a:extLst>
          </p:cNvPr>
          <p:cNvSpPr txBox="1"/>
          <p:nvPr/>
        </p:nvSpPr>
        <p:spPr>
          <a:xfrm>
            <a:off x="482774" y="2532682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From Clause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9D387D-CAA2-4DB1-B26F-C9820FFFC6AB}"/>
              </a:ext>
            </a:extLst>
          </p:cNvPr>
          <p:cNvSpPr txBox="1"/>
          <p:nvPr/>
        </p:nvSpPr>
        <p:spPr>
          <a:xfrm>
            <a:off x="492121" y="3344755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Where Clause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2E3EC0-AC02-4B61-95A2-A78064B2DCE4}"/>
              </a:ext>
            </a:extLst>
          </p:cNvPr>
          <p:cNvSpPr txBox="1"/>
          <p:nvPr/>
        </p:nvSpPr>
        <p:spPr>
          <a:xfrm>
            <a:off x="286707" y="4156828"/>
            <a:ext cx="197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By Clause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9B437F-D754-4A96-8D81-383B50C04DF0}"/>
              </a:ext>
            </a:extLst>
          </p:cNvPr>
          <p:cNvSpPr txBox="1"/>
          <p:nvPr/>
        </p:nvSpPr>
        <p:spPr>
          <a:xfrm>
            <a:off x="492121" y="4947288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Having Clause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08B73B-59BD-4FEC-ADFE-D4950A497448}"/>
              </a:ext>
            </a:extLst>
          </p:cNvPr>
          <p:cNvSpPr txBox="1"/>
          <p:nvPr/>
        </p:nvSpPr>
        <p:spPr>
          <a:xfrm>
            <a:off x="286707" y="5702472"/>
            <a:ext cx="197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 By Clause</a:t>
            </a:r>
          </a:p>
        </p:txBody>
      </p:sp>
    </p:spTree>
    <p:extLst>
      <p:ext uri="{BB962C8B-B14F-4D97-AF65-F5344CB8AC3E}">
        <p14:creationId xmlns:p14="http://schemas.microsoft.com/office/powerpoint/2010/main" val="23095311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Syntax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1068" y="1138924"/>
            <a:ext cx="3779256" cy="41254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, SUM(COLUMN_2)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TABLE_NAME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 = ‘VALUE’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-- Filter data here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SUM(COLUMN_2) &gt; 10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ORDER BY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7C844-6DBB-4E5B-A0B8-F0802DEF6213}"/>
              </a:ext>
            </a:extLst>
          </p:cNvPr>
          <p:cNvSpPr txBox="1"/>
          <p:nvPr/>
        </p:nvSpPr>
        <p:spPr>
          <a:xfrm>
            <a:off x="258942" y="1433509"/>
            <a:ext cx="277006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Put key words on their own line and indent lines with no key words (indents are key!)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D28A88-9385-440F-84C6-6352F11FB749}"/>
              </a:ext>
            </a:extLst>
          </p:cNvPr>
          <p:cNvCxnSpPr>
            <a:cxnSpLocks/>
          </p:cNvCxnSpPr>
          <p:nvPr/>
        </p:nvCxnSpPr>
        <p:spPr>
          <a:xfrm flipV="1">
            <a:off x="3123302" y="1909208"/>
            <a:ext cx="725351" cy="493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21DBF32-1E1F-42B4-ABA1-D340F3B90203}"/>
              </a:ext>
            </a:extLst>
          </p:cNvPr>
          <p:cNvSpPr txBox="1"/>
          <p:nvPr/>
        </p:nvSpPr>
        <p:spPr>
          <a:xfrm>
            <a:off x="7243013" y="2562148"/>
            <a:ext cx="2274406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Capitalize key words!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077768-A7A5-4C04-A238-2047A16F2417}"/>
              </a:ext>
            </a:extLst>
          </p:cNvPr>
          <p:cNvCxnSpPr>
            <a:cxnSpLocks/>
          </p:cNvCxnSpPr>
          <p:nvPr/>
        </p:nvCxnSpPr>
        <p:spPr>
          <a:xfrm flipH="1" flipV="1">
            <a:off x="4512644" y="2562148"/>
            <a:ext cx="2650385" cy="335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A6115E-9B20-49CD-8D8D-E160DE7D14C2}"/>
              </a:ext>
            </a:extLst>
          </p:cNvPr>
          <p:cNvCxnSpPr>
            <a:cxnSpLocks/>
          </p:cNvCxnSpPr>
          <p:nvPr/>
        </p:nvCxnSpPr>
        <p:spPr>
          <a:xfrm flipH="1">
            <a:off x="4678532" y="2977646"/>
            <a:ext cx="2484497" cy="41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B1EB9E2-7349-45A7-9DEC-ED8B95291F21}"/>
              </a:ext>
            </a:extLst>
          </p:cNvPr>
          <p:cNvSpPr txBox="1"/>
          <p:nvPr/>
        </p:nvSpPr>
        <p:spPr>
          <a:xfrm>
            <a:off x="6954902" y="4796310"/>
            <a:ext cx="2274406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End query with a semi colon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C90A36-4FEC-4535-A103-30E2289C999C}"/>
              </a:ext>
            </a:extLst>
          </p:cNvPr>
          <p:cNvCxnSpPr>
            <a:cxnSpLocks/>
          </p:cNvCxnSpPr>
          <p:nvPr/>
        </p:nvCxnSpPr>
        <p:spPr>
          <a:xfrm flipH="1">
            <a:off x="5580139" y="5627307"/>
            <a:ext cx="1331965" cy="94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F0DA7B-F0A2-4A8D-AC00-727A3ADD6F7C}"/>
              </a:ext>
            </a:extLst>
          </p:cNvPr>
          <p:cNvCxnSpPr>
            <a:cxnSpLocks/>
          </p:cNvCxnSpPr>
          <p:nvPr/>
        </p:nvCxnSpPr>
        <p:spPr>
          <a:xfrm>
            <a:off x="3142326" y="2540956"/>
            <a:ext cx="706327" cy="197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FC48814-1864-48BC-AAD3-A8241B05A2B6}"/>
              </a:ext>
            </a:extLst>
          </p:cNvPr>
          <p:cNvSpPr txBox="1"/>
          <p:nvPr/>
        </p:nvSpPr>
        <p:spPr>
          <a:xfrm>
            <a:off x="391729" y="4224162"/>
            <a:ext cx="243137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Use double dash (--) to comment your code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18B1FC-D8C7-4874-9068-FCF38D817C30}"/>
              </a:ext>
            </a:extLst>
          </p:cNvPr>
          <p:cNvCxnSpPr>
            <a:cxnSpLocks/>
          </p:cNvCxnSpPr>
          <p:nvPr/>
        </p:nvCxnSpPr>
        <p:spPr>
          <a:xfrm flipV="1">
            <a:off x="2902494" y="4154750"/>
            <a:ext cx="1172356" cy="524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7E2C66B-CB8A-436B-BFC0-0F55BD3557D3}"/>
              </a:ext>
            </a:extLst>
          </p:cNvPr>
          <p:cNvSpPr txBox="1"/>
          <p:nvPr/>
        </p:nvSpPr>
        <p:spPr>
          <a:xfrm>
            <a:off x="7243013" y="920207"/>
            <a:ext cx="227440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Each column in select clause on its own line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48A5E9-17DF-469E-8B44-65C4BA62D201}"/>
              </a:ext>
            </a:extLst>
          </p:cNvPr>
          <p:cNvCxnSpPr>
            <a:cxnSpLocks/>
          </p:cNvCxnSpPr>
          <p:nvPr/>
        </p:nvCxnSpPr>
        <p:spPr>
          <a:xfrm flipH="1">
            <a:off x="5580139" y="1460192"/>
            <a:ext cx="1509206" cy="236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F28A0F5-8704-4813-912A-BC42AB3903C2}"/>
              </a:ext>
            </a:extLst>
          </p:cNvPr>
          <p:cNvCxnSpPr>
            <a:cxnSpLocks/>
          </p:cNvCxnSpPr>
          <p:nvPr/>
        </p:nvCxnSpPr>
        <p:spPr>
          <a:xfrm flipH="1">
            <a:off x="6170323" y="1520371"/>
            <a:ext cx="919022" cy="535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5125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to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32750"/>
            <a:ext cx="9295342" cy="388077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Code Academy SQL Course: </a:t>
            </a:r>
            <a:r>
              <a:rPr lang="en-US" sz="2000" dirty="0">
                <a:hlinkClick r:id="rId2"/>
              </a:rPr>
              <a:t>https://www.codecademy.com/learn/learn-sql</a:t>
            </a:r>
            <a:endParaRPr lang="en-US" sz="2000" dirty="0"/>
          </a:p>
          <a:p>
            <a:pPr>
              <a:lnSpc>
                <a:spcPct val="200000"/>
              </a:lnSpc>
            </a:pPr>
            <a:r>
              <a:rPr lang="en-US" sz="2000" dirty="0"/>
              <a:t>SQL Zoo: </a:t>
            </a:r>
            <a:r>
              <a:rPr lang="en-US" sz="2000" dirty="0">
                <a:hlinkClick r:id="rId3"/>
              </a:rPr>
              <a:t>https://sqlzoo.net/</a:t>
            </a:r>
            <a:endParaRPr lang="en-US" sz="2000" dirty="0"/>
          </a:p>
          <a:p>
            <a:pPr>
              <a:lnSpc>
                <a:spcPct val="200000"/>
              </a:lnSpc>
            </a:pPr>
            <a:r>
              <a:rPr lang="en-US" sz="2000" dirty="0"/>
              <a:t>W3 Schools: </a:t>
            </a:r>
            <a:r>
              <a:rPr lang="en-US" sz="2000" dirty="0">
                <a:hlinkClick r:id="rId4"/>
              </a:rPr>
              <a:t>https://www.w3schools.com/sql/sql_exercises.asp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sz="2000" dirty="0"/>
          </a:p>
          <a:p>
            <a:pPr>
              <a:lnSpc>
                <a:spcPct val="20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502920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311613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63c7f06-7cb3-4753-bb68-887d8c87c3f7}" enabled="1" method="Privileged" siteId="{b1c14d5c-3625-45b3-a430-9552373a0c2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48479</TotalTime>
  <Words>2273</Words>
  <Application>Microsoft Office PowerPoint</Application>
  <PresentationFormat>Widescreen</PresentationFormat>
  <Paragraphs>431</Paragraphs>
  <Slides>56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-apple-system</vt:lpstr>
      <vt:lpstr>Arial</vt:lpstr>
      <vt:lpstr>Calibri</vt:lpstr>
      <vt:lpstr>Trebuchet MS</vt:lpstr>
      <vt:lpstr>Wingdings</vt:lpstr>
      <vt:lpstr>Wingdings 3</vt:lpstr>
      <vt:lpstr>Facet</vt:lpstr>
      <vt:lpstr>SQL for Data Querying and Analysis</vt:lpstr>
      <vt:lpstr>Agenda</vt:lpstr>
      <vt:lpstr>Introduction!</vt:lpstr>
      <vt:lpstr>Course Overview</vt:lpstr>
      <vt:lpstr>Grading</vt:lpstr>
      <vt:lpstr>How to Succeed!</vt:lpstr>
      <vt:lpstr>MySQL Workbench</vt:lpstr>
      <vt:lpstr>What is SQL?</vt:lpstr>
      <vt:lpstr>Why should you learn SQL?</vt:lpstr>
      <vt:lpstr>What are Relational Databases?</vt:lpstr>
      <vt:lpstr>Let’s Code!</vt:lpstr>
      <vt:lpstr>Anatomy of a SQL Query</vt:lpstr>
      <vt:lpstr>Anatomy of a SQL Query</vt:lpstr>
      <vt:lpstr>Anatomy of a SQL Query</vt:lpstr>
      <vt:lpstr>Anatomy of a SQL Query</vt:lpstr>
      <vt:lpstr>Anatomy of a SQL Query</vt:lpstr>
      <vt:lpstr>Anatomy of a SQL Query</vt:lpstr>
      <vt:lpstr>Anatomy of a SQL Query</vt:lpstr>
      <vt:lpstr>SQL Syntax Best Practices</vt:lpstr>
      <vt:lpstr>Select Clause</vt:lpstr>
      <vt:lpstr>Select Clause</vt:lpstr>
      <vt:lpstr>Select Clause - Expressions</vt:lpstr>
      <vt:lpstr>Select Clause - Functions</vt:lpstr>
      <vt:lpstr>Select Clause Uses</vt:lpstr>
      <vt:lpstr>Demo Set 1.1</vt:lpstr>
      <vt:lpstr>From Clause</vt:lpstr>
      <vt:lpstr>From Clause</vt:lpstr>
      <vt:lpstr>Demo Set 1.2</vt:lpstr>
      <vt:lpstr>Where Clause</vt:lpstr>
      <vt:lpstr>Where Clause</vt:lpstr>
      <vt:lpstr>Where Clause Uses</vt:lpstr>
      <vt:lpstr>Where Clause Uses Cont.</vt:lpstr>
      <vt:lpstr>Where Clause Uses Cont.</vt:lpstr>
      <vt:lpstr>Demo Set 1.3</vt:lpstr>
      <vt:lpstr>Group By Clause</vt:lpstr>
      <vt:lpstr>Group By Clause</vt:lpstr>
      <vt:lpstr>Grouping by Multiple Columns</vt:lpstr>
      <vt:lpstr>Demo Set 1.4</vt:lpstr>
      <vt:lpstr>Having Clause</vt:lpstr>
      <vt:lpstr>Having Clause</vt:lpstr>
      <vt:lpstr>Demo Set 1.5</vt:lpstr>
      <vt:lpstr>Pop Quiz!</vt:lpstr>
      <vt:lpstr>Which query runs successfully?</vt:lpstr>
      <vt:lpstr>Which query runs successfully?</vt:lpstr>
      <vt:lpstr>Order By Clause</vt:lpstr>
      <vt:lpstr>Order By Clause</vt:lpstr>
      <vt:lpstr>Demo Set 1.6</vt:lpstr>
      <vt:lpstr>Limit Clause (Bonus!)</vt:lpstr>
      <vt:lpstr>Limit Clause</vt:lpstr>
      <vt:lpstr>Demo Set 1.7</vt:lpstr>
      <vt:lpstr>Review</vt:lpstr>
      <vt:lpstr>Review!</vt:lpstr>
      <vt:lpstr>Anatomy of a SQL Query</vt:lpstr>
      <vt:lpstr>SQL Syntax Best Practices</vt:lpstr>
      <vt:lpstr>Resources to Practice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SQL</dc:title>
  <dc:creator>Sean Scott</dc:creator>
  <cp:lastModifiedBy>Sean Scott</cp:lastModifiedBy>
  <cp:revision>80</cp:revision>
  <dcterms:created xsi:type="dcterms:W3CDTF">2022-05-16T22:13:08Z</dcterms:created>
  <dcterms:modified xsi:type="dcterms:W3CDTF">2026-08-25T18:20:48Z</dcterms:modified>
</cp:coreProperties>
</file>